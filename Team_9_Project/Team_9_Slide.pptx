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EFCO Brookshire" charset="1" panose="00000000000000000000"/>
      <p:regular r:id="rId22"/>
    </p:embeddedFont>
    <p:embeddedFont>
      <p:font typeface="Ibarra Real Nova Bold" charset="1" panose="00000800000000000000"/>
      <p:regular r:id="rId23"/>
    </p:embeddedFont>
    <p:embeddedFont>
      <p:font typeface="Ibarra Real Nova"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9.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9.png" Type="http://schemas.openxmlformats.org/officeDocument/2006/relationships/image"/><Relationship Id="rId7"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9.png" Type="http://schemas.openxmlformats.org/officeDocument/2006/relationships/image"/><Relationship Id="rId7"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9.png" Type="http://schemas.openxmlformats.org/officeDocument/2006/relationships/image"/><Relationship Id="rId7"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9.png" Type="http://schemas.openxmlformats.org/officeDocument/2006/relationships/image"/><Relationship Id="rId7"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9.png" Type="http://schemas.openxmlformats.org/officeDocument/2006/relationships/image"/><Relationship Id="rId7"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599833" y="1720984"/>
            <a:ext cx="1853374" cy="8566016"/>
          </a:xfrm>
          <a:custGeom>
            <a:avLst/>
            <a:gdLst/>
            <a:ahLst/>
            <a:cxnLst/>
            <a:rect r="r" b="b" t="t" l="l"/>
            <a:pathLst>
              <a:path h="8566016" w="1853374">
                <a:moveTo>
                  <a:pt x="0" y="0"/>
                </a:moveTo>
                <a:lnTo>
                  <a:pt x="1853374" y="0"/>
                </a:lnTo>
                <a:lnTo>
                  <a:pt x="1853374" y="8566016"/>
                </a:lnTo>
                <a:lnTo>
                  <a:pt x="0" y="8566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40824" y="8932821"/>
            <a:ext cx="6314072" cy="746209"/>
          </a:xfrm>
          <a:custGeom>
            <a:avLst/>
            <a:gdLst/>
            <a:ahLst/>
            <a:cxnLst/>
            <a:rect r="r" b="b" t="t" l="l"/>
            <a:pathLst>
              <a:path h="746209" w="6314072">
                <a:moveTo>
                  <a:pt x="0" y="0"/>
                </a:moveTo>
                <a:lnTo>
                  <a:pt x="6314072" y="0"/>
                </a:lnTo>
                <a:lnTo>
                  <a:pt x="6314072" y="746208"/>
                </a:lnTo>
                <a:lnTo>
                  <a:pt x="0" y="7462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654896" y="8932821"/>
            <a:ext cx="6314072" cy="746209"/>
          </a:xfrm>
          <a:custGeom>
            <a:avLst/>
            <a:gdLst/>
            <a:ahLst/>
            <a:cxnLst/>
            <a:rect r="r" b="b" t="t" l="l"/>
            <a:pathLst>
              <a:path h="746209" w="6314072">
                <a:moveTo>
                  <a:pt x="6314072" y="0"/>
                </a:moveTo>
                <a:lnTo>
                  <a:pt x="0" y="0"/>
                </a:lnTo>
                <a:lnTo>
                  <a:pt x="0" y="746208"/>
                </a:lnTo>
                <a:lnTo>
                  <a:pt x="6314072" y="746208"/>
                </a:lnTo>
                <a:lnTo>
                  <a:pt x="6314072"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340824" y="2722056"/>
            <a:ext cx="12628144" cy="6536244"/>
            <a:chOff x="0" y="0"/>
            <a:chExt cx="3325931" cy="1721480"/>
          </a:xfrm>
        </p:grpSpPr>
        <p:sp>
          <p:nvSpPr>
            <p:cNvPr name="Freeform 6" id="6"/>
            <p:cNvSpPr/>
            <p:nvPr/>
          </p:nvSpPr>
          <p:spPr>
            <a:xfrm flipH="false" flipV="false" rot="0">
              <a:off x="0" y="0"/>
              <a:ext cx="3325931" cy="1721480"/>
            </a:xfrm>
            <a:custGeom>
              <a:avLst/>
              <a:gdLst/>
              <a:ahLst/>
              <a:cxnLst/>
              <a:rect r="r" b="b" t="t" l="l"/>
              <a:pathLst>
                <a:path h="1721480" w="3325931">
                  <a:moveTo>
                    <a:pt x="0" y="0"/>
                  </a:moveTo>
                  <a:lnTo>
                    <a:pt x="3325931" y="0"/>
                  </a:lnTo>
                  <a:lnTo>
                    <a:pt x="3325931" y="1721480"/>
                  </a:lnTo>
                  <a:lnTo>
                    <a:pt x="0" y="1721480"/>
                  </a:lnTo>
                  <a:close/>
                </a:path>
              </a:pathLst>
            </a:custGeom>
            <a:solidFill>
              <a:srgbClr val="151D2D"/>
            </a:solidFill>
            <a:ln w="38100" cap="sq">
              <a:solidFill>
                <a:srgbClr val="8B6F47"/>
              </a:solidFill>
              <a:prstDash val="solid"/>
              <a:miter/>
            </a:ln>
          </p:spPr>
        </p:sp>
        <p:sp>
          <p:nvSpPr>
            <p:cNvPr name="TextBox 7" id="7"/>
            <p:cNvSpPr txBox="true"/>
            <p:nvPr/>
          </p:nvSpPr>
          <p:spPr>
            <a:xfrm>
              <a:off x="0" y="-38100"/>
              <a:ext cx="3325931" cy="175958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340824" y="1728891"/>
            <a:ext cx="13358472" cy="3271723"/>
            <a:chOff x="0" y="0"/>
            <a:chExt cx="3518281" cy="861688"/>
          </a:xfrm>
        </p:grpSpPr>
        <p:sp>
          <p:nvSpPr>
            <p:cNvPr name="Freeform 9" id="9"/>
            <p:cNvSpPr/>
            <p:nvPr/>
          </p:nvSpPr>
          <p:spPr>
            <a:xfrm flipH="false" flipV="false" rot="0">
              <a:off x="0" y="0"/>
              <a:ext cx="3518281" cy="861688"/>
            </a:xfrm>
            <a:custGeom>
              <a:avLst/>
              <a:gdLst/>
              <a:ahLst/>
              <a:cxnLst/>
              <a:rect r="r" b="b" t="t" l="l"/>
              <a:pathLst>
                <a:path h="861688" w="3518281">
                  <a:moveTo>
                    <a:pt x="0" y="0"/>
                  </a:moveTo>
                  <a:lnTo>
                    <a:pt x="3518281" y="0"/>
                  </a:lnTo>
                  <a:lnTo>
                    <a:pt x="3518281" y="861688"/>
                  </a:lnTo>
                  <a:lnTo>
                    <a:pt x="0" y="861688"/>
                  </a:lnTo>
                  <a:close/>
                </a:path>
              </a:pathLst>
            </a:custGeom>
            <a:solidFill>
              <a:srgbClr val="151D2D"/>
            </a:solidFill>
            <a:ln w="57150" cap="sq">
              <a:solidFill>
                <a:srgbClr val="8B6F47"/>
              </a:solidFill>
              <a:prstDash val="solid"/>
              <a:miter/>
            </a:ln>
          </p:spPr>
        </p:sp>
        <p:sp>
          <p:nvSpPr>
            <p:cNvPr name="TextBox 10" id="10"/>
            <p:cNvSpPr txBox="true"/>
            <p:nvPr/>
          </p:nvSpPr>
          <p:spPr>
            <a:xfrm>
              <a:off x="0" y="-38100"/>
              <a:ext cx="3518281" cy="89978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408275" y="2722056"/>
            <a:ext cx="6138518" cy="61385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1D2D"/>
            </a:solidFill>
            <a:ln w="57150" cap="sq">
              <a:solidFill>
                <a:srgbClr val="8B6F47"/>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986297" y="2507291"/>
            <a:ext cx="7315200" cy="1485616"/>
          </a:xfrm>
          <a:custGeom>
            <a:avLst/>
            <a:gdLst/>
            <a:ahLst/>
            <a:cxnLst/>
            <a:rect r="r" b="b" t="t" l="l"/>
            <a:pathLst>
              <a:path h="1485616" w="7315200">
                <a:moveTo>
                  <a:pt x="0" y="0"/>
                </a:moveTo>
                <a:lnTo>
                  <a:pt x="7315200" y="0"/>
                </a:lnTo>
                <a:lnTo>
                  <a:pt x="7315200" y="1485616"/>
                </a:lnTo>
                <a:lnTo>
                  <a:pt x="0" y="1485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2453207" y="3250099"/>
            <a:ext cx="3927334" cy="5082433"/>
          </a:xfrm>
          <a:custGeom>
            <a:avLst/>
            <a:gdLst/>
            <a:ahLst/>
            <a:cxnLst/>
            <a:rect r="r" b="b" t="t" l="l"/>
            <a:pathLst>
              <a:path h="5082433" w="3927334">
                <a:moveTo>
                  <a:pt x="0" y="0"/>
                </a:moveTo>
                <a:lnTo>
                  <a:pt x="3927335" y="0"/>
                </a:lnTo>
                <a:lnTo>
                  <a:pt x="3927335" y="5082433"/>
                </a:lnTo>
                <a:lnTo>
                  <a:pt x="0" y="508243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10"/>
            <a:stretch>
              <a:fillRect l="0" t="0" r="0" b="0"/>
            </a:stretch>
          </a:blipFill>
        </p:spPr>
      </p:sp>
      <p:sp>
        <p:nvSpPr>
          <p:cNvPr name="TextBox 17" id="17"/>
          <p:cNvSpPr txBox="true"/>
          <p:nvPr/>
        </p:nvSpPr>
        <p:spPr>
          <a:xfrm rot="0">
            <a:off x="8505838" y="4781540"/>
            <a:ext cx="1802219" cy="1897683"/>
          </a:xfrm>
          <a:prstGeom prst="rect">
            <a:avLst/>
          </a:prstGeom>
        </p:spPr>
        <p:txBody>
          <a:bodyPr anchor="t" rtlCol="false" tIns="0" lIns="0" bIns="0" rIns="0">
            <a:spAutoFit/>
          </a:bodyPr>
          <a:lstStyle/>
          <a:p>
            <a:pPr algn="l">
              <a:lnSpc>
                <a:spcPts val="15469"/>
              </a:lnSpc>
            </a:pPr>
            <a:r>
              <a:rPr lang="en-US" sz="11049">
                <a:solidFill>
                  <a:srgbClr val="E6D8B5"/>
                </a:solidFill>
                <a:latin typeface="EFCO Brookshire"/>
                <a:ea typeface="EFCO Brookshire"/>
                <a:cs typeface="EFCO Brookshire"/>
                <a:sym typeface="EFCO Brookshire"/>
              </a:rPr>
              <a:t>the </a:t>
            </a:r>
          </a:p>
        </p:txBody>
      </p:sp>
      <p:sp>
        <p:nvSpPr>
          <p:cNvPr name="TextBox 18" id="18"/>
          <p:cNvSpPr txBox="true"/>
          <p:nvPr/>
        </p:nvSpPr>
        <p:spPr>
          <a:xfrm rot="0">
            <a:off x="8464312" y="5929815"/>
            <a:ext cx="7504656" cy="2930759"/>
          </a:xfrm>
          <a:prstGeom prst="rect">
            <a:avLst/>
          </a:prstGeom>
        </p:spPr>
        <p:txBody>
          <a:bodyPr anchor="t" rtlCol="false" tIns="0" lIns="0" bIns="0" rIns="0">
            <a:spAutoFit/>
          </a:bodyPr>
          <a:lstStyle/>
          <a:p>
            <a:pPr algn="l">
              <a:lnSpc>
                <a:spcPts val="24024"/>
              </a:lnSpc>
            </a:pPr>
            <a:r>
              <a:rPr lang="en-US" sz="17160">
                <a:solidFill>
                  <a:srgbClr val="E6D8B5"/>
                </a:solidFill>
                <a:latin typeface="EFCO Brookshire"/>
                <a:ea typeface="EFCO Brookshire"/>
                <a:cs typeface="EFCO Brookshire"/>
                <a:sym typeface="EFCO Brookshire"/>
              </a:rPr>
              <a:t>titanlift</a:t>
            </a:r>
          </a:p>
        </p:txBody>
      </p:sp>
      <p:sp>
        <p:nvSpPr>
          <p:cNvPr name="AutoShape 19" id="19"/>
          <p:cNvSpPr/>
          <p:nvPr/>
        </p:nvSpPr>
        <p:spPr>
          <a:xfrm>
            <a:off x="10938238" y="6679223"/>
            <a:ext cx="4190615" cy="4763"/>
          </a:xfrm>
          <a:prstGeom prst="line">
            <a:avLst/>
          </a:prstGeom>
          <a:ln cap="flat" w="19050">
            <a:solidFill>
              <a:srgbClr val="E6D0A3"/>
            </a:solidFill>
            <a:prstDash val="solid"/>
            <a:headEnd type="none" len="sm" w="sm"/>
            <a:tailEnd type="none" len="sm" w="sm"/>
          </a:ln>
        </p:spPr>
      </p:sp>
      <p:sp>
        <p:nvSpPr>
          <p:cNvPr name="AutoShape 20" id="20"/>
          <p:cNvSpPr/>
          <p:nvPr/>
        </p:nvSpPr>
        <p:spPr>
          <a:xfrm>
            <a:off x="10643897" y="6253665"/>
            <a:ext cx="4484956" cy="0"/>
          </a:xfrm>
          <a:prstGeom prst="line">
            <a:avLst/>
          </a:prstGeom>
          <a:ln cap="flat" w="19050">
            <a:solidFill>
              <a:srgbClr val="E6D0A3"/>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3148953" y="9229834"/>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111392" y="9229834"/>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755929" y="2021865"/>
            <a:ext cx="14377672" cy="7480924"/>
            <a:chOff x="0" y="0"/>
            <a:chExt cx="3786712" cy="1970284"/>
          </a:xfrm>
        </p:grpSpPr>
        <p:sp>
          <p:nvSpPr>
            <p:cNvPr name="Freeform 5" id="5"/>
            <p:cNvSpPr/>
            <p:nvPr/>
          </p:nvSpPr>
          <p:spPr>
            <a:xfrm flipH="false" flipV="false" rot="0">
              <a:off x="0" y="0"/>
              <a:ext cx="3786712" cy="1970284"/>
            </a:xfrm>
            <a:custGeom>
              <a:avLst/>
              <a:gdLst/>
              <a:ahLst/>
              <a:cxnLst/>
              <a:rect r="r" b="b" t="t" l="l"/>
              <a:pathLst>
                <a:path h="1970284" w="3786712">
                  <a:moveTo>
                    <a:pt x="0" y="0"/>
                  </a:moveTo>
                  <a:lnTo>
                    <a:pt x="3786712" y="0"/>
                  </a:lnTo>
                  <a:lnTo>
                    <a:pt x="3786712" y="1970284"/>
                  </a:lnTo>
                  <a:lnTo>
                    <a:pt x="0" y="1970284"/>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2008384"/>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755929" y="1662702"/>
            <a:ext cx="14377672" cy="1593831"/>
            <a:chOff x="0" y="0"/>
            <a:chExt cx="3786712" cy="419774"/>
          </a:xfrm>
        </p:grpSpPr>
        <p:sp>
          <p:nvSpPr>
            <p:cNvPr name="Freeform 8" id="8"/>
            <p:cNvSpPr/>
            <p:nvPr/>
          </p:nvSpPr>
          <p:spPr>
            <a:xfrm flipH="false" flipV="false" rot="0">
              <a:off x="0" y="0"/>
              <a:ext cx="3786712" cy="419774"/>
            </a:xfrm>
            <a:custGeom>
              <a:avLst/>
              <a:gdLst/>
              <a:ahLst/>
              <a:cxnLst/>
              <a:rect r="r" b="b" t="t" l="l"/>
              <a:pathLst>
                <a:path h="419774" w="3786712">
                  <a:moveTo>
                    <a:pt x="0" y="0"/>
                  </a:moveTo>
                  <a:lnTo>
                    <a:pt x="3786712" y="0"/>
                  </a:lnTo>
                  <a:lnTo>
                    <a:pt x="3786712" y="419774"/>
                  </a:lnTo>
                  <a:lnTo>
                    <a:pt x="0" y="419774"/>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457874"/>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3173695" y="5761644"/>
            <a:ext cx="9419842" cy="1015053"/>
          </a:xfrm>
          <a:custGeom>
            <a:avLst/>
            <a:gdLst/>
            <a:ahLst/>
            <a:cxnLst/>
            <a:rect r="r" b="b" t="t" l="l"/>
            <a:pathLst>
              <a:path h="1015053" w="9419842">
                <a:moveTo>
                  <a:pt x="0" y="0"/>
                </a:moveTo>
                <a:lnTo>
                  <a:pt x="9419843" y="0"/>
                </a:lnTo>
                <a:lnTo>
                  <a:pt x="9419843" y="1015053"/>
                </a:lnTo>
                <a:lnTo>
                  <a:pt x="0" y="10150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Freeform 12" id="12"/>
          <p:cNvSpPr/>
          <p:nvPr/>
        </p:nvSpPr>
        <p:spPr>
          <a:xfrm flipH="false" flipV="false" rot="0">
            <a:off x="8108827" y="5454337"/>
            <a:ext cx="2600838" cy="3259794"/>
          </a:xfrm>
          <a:custGeom>
            <a:avLst/>
            <a:gdLst/>
            <a:ahLst/>
            <a:cxnLst/>
            <a:rect r="r" b="b" t="t" l="l"/>
            <a:pathLst>
              <a:path h="3259794" w="2600838">
                <a:moveTo>
                  <a:pt x="0" y="0"/>
                </a:moveTo>
                <a:lnTo>
                  <a:pt x="2600838" y="0"/>
                </a:lnTo>
                <a:lnTo>
                  <a:pt x="2600838" y="3259794"/>
                </a:lnTo>
                <a:lnTo>
                  <a:pt x="0" y="3259794"/>
                </a:lnTo>
                <a:lnTo>
                  <a:pt x="0" y="0"/>
                </a:lnTo>
                <a:close/>
              </a:path>
            </a:pathLst>
          </a:custGeom>
          <a:blipFill>
            <a:blip r:embed="rId7"/>
            <a:stretch>
              <a:fillRect l="0" t="0" r="0" b="0"/>
            </a:stretch>
          </a:blipFill>
        </p:spPr>
      </p:sp>
      <p:sp>
        <p:nvSpPr>
          <p:cNvPr name="Freeform 13" id="13"/>
          <p:cNvSpPr/>
          <p:nvPr/>
        </p:nvSpPr>
        <p:spPr>
          <a:xfrm flipH="false" flipV="false" rot="0">
            <a:off x="12010535" y="5267712"/>
            <a:ext cx="2738673" cy="3446420"/>
          </a:xfrm>
          <a:custGeom>
            <a:avLst/>
            <a:gdLst/>
            <a:ahLst/>
            <a:cxnLst/>
            <a:rect r="r" b="b" t="t" l="l"/>
            <a:pathLst>
              <a:path h="3446420" w="2738673">
                <a:moveTo>
                  <a:pt x="0" y="0"/>
                </a:moveTo>
                <a:lnTo>
                  <a:pt x="2738673" y="0"/>
                </a:lnTo>
                <a:lnTo>
                  <a:pt x="2738673" y="3446419"/>
                </a:lnTo>
                <a:lnTo>
                  <a:pt x="0" y="3446419"/>
                </a:lnTo>
                <a:lnTo>
                  <a:pt x="0" y="0"/>
                </a:lnTo>
                <a:close/>
              </a:path>
            </a:pathLst>
          </a:custGeom>
          <a:blipFill>
            <a:blip r:embed="rId8"/>
            <a:stretch>
              <a:fillRect l="0" t="0" r="0" b="0"/>
            </a:stretch>
          </a:blipFill>
        </p:spPr>
      </p:sp>
      <p:sp>
        <p:nvSpPr>
          <p:cNvPr name="Freeform 14" id="14"/>
          <p:cNvSpPr/>
          <p:nvPr/>
        </p:nvSpPr>
        <p:spPr>
          <a:xfrm flipH="false" flipV="false" rot="-10800000">
            <a:off x="13962487" y="3536967"/>
            <a:ext cx="2510764" cy="2610435"/>
          </a:xfrm>
          <a:custGeom>
            <a:avLst/>
            <a:gdLst/>
            <a:ahLst/>
            <a:cxnLst/>
            <a:rect r="r" b="b" t="t" l="l"/>
            <a:pathLst>
              <a:path h="2610435" w="2510764">
                <a:moveTo>
                  <a:pt x="0" y="0"/>
                </a:moveTo>
                <a:lnTo>
                  <a:pt x="2510764" y="0"/>
                </a:lnTo>
                <a:lnTo>
                  <a:pt x="2510764" y="2610435"/>
                </a:lnTo>
                <a:lnTo>
                  <a:pt x="0" y="261043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5" id="15"/>
          <p:cNvSpPr txBox="true"/>
          <p:nvPr/>
        </p:nvSpPr>
        <p:spPr>
          <a:xfrm rot="0">
            <a:off x="3416278" y="1472202"/>
            <a:ext cx="13056972" cy="1708151"/>
          </a:xfrm>
          <a:prstGeom prst="rect">
            <a:avLst/>
          </a:prstGeom>
        </p:spPr>
        <p:txBody>
          <a:bodyPr anchor="t" rtlCol="false" tIns="0" lIns="0" bIns="0" rIns="0">
            <a:spAutoFit/>
          </a:bodyPr>
          <a:lstStyle/>
          <a:p>
            <a:pPr algn="ctr">
              <a:lnSpc>
                <a:spcPts val="13999"/>
              </a:lnSpc>
            </a:pPr>
            <a:r>
              <a:rPr lang="en-US" sz="9999">
                <a:solidFill>
                  <a:srgbClr val="E6D8B5"/>
                </a:solidFill>
                <a:latin typeface="EFCO Brookshire"/>
                <a:ea typeface="EFCO Brookshire"/>
                <a:cs typeface="EFCO Brookshire"/>
                <a:sym typeface="EFCO Brookshire"/>
              </a:rPr>
              <a:t>The TitanLift</a:t>
            </a:r>
          </a:p>
        </p:txBody>
      </p:sp>
      <p:sp>
        <p:nvSpPr>
          <p:cNvPr name="TextBox 16" id="16"/>
          <p:cNvSpPr txBox="true"/>
          <p:nvPr/>
        </p:nvSpPr>
        <p:spPr>
          <a:xfrm rot="0">
            <a:off x="3177443" y="3479817"/>
            <a:ext cx="15064444" cy="504825"/>
          </a:xfrm>
          <a:prstGeom prst="rect">
            <a:avLst/>
          </a:prstGeom>
        </p:spPr>
        <p:txBody>
          <a:bodyPr anchor="t" rtlCol="false" tIns="0" lIns="0" bIns="0" rIns="0">
            <a:spAutoFit/>
          </a:bodyPr>
          <a:lstStyle/>
          <a:p>
            <a:pPr algn="l">
              <a:lnSpc>
                <a:spcPts val="4199"/>
              </a:lnSpc>
            </a:pPr>
            <a:r>
              <a:rPr lang="en-US" sz="2999" b="true">
                <a:solidFill>
                  <a:srgbClr val="E6D8B5"/>
                </a:solidFill>
                <a:latin typeface="Ibarra Real Nova Bold"/>
                <a:ea typeface="Ibarra Real Nova Bold"/>
                <a:cs typeface="Ibarra Real Nova Bold"/>
                <a:sym typeface="Ibarra Real Nova Bold"/>
              </a:rPr>
              <a:t>Institute:</a:t>
            </a:r>
            <a:r>
              <a:rPr lang="en-US" sz="2999">
                <a:solidFill>
                  <a:srgbClr val="E6D8B5"/>
                </a:solidFill>
                <a:latin typeface="Ibarra Real Nova"/>
                <a:ea typeface="Ibarra Real Nova"/>
                <a:cs typeface="Ibarra Real Nova"/>
                <a:sym typeface="Ibarra Real Nova"/>
              </a:rPr>
              <a:t> Cambodia Academy of Digital Technology</a:t>
            </a:r>
          </a:p>
        </p:txBody>
      </p:sp>
      <p:sp>
        <p:nvSpPr>
          <p:cNvPr name="TextBox 17" id="17"/>
          <p:cNvSpPr txBox="true"/>
          <p:nvPr/>
        </p:nvSpPr>
        <p:spPr>
          <a:xfrm rot="0">
            <a:off x="3159200" y="4067985"/>
            <a:ext cx="13904385" cy="504825"/>
          </a:xfrm>
          <a:prstGeom prst="rect">
            <a:avLst/>
          </a:prstGeom>
        </p:spPr>
        <p:txBody>
          <a:bodyPr anchor="t" rtlCol="false" tIns="0" lIns="0" bIns="0" rIns="0">
            <a:spAutoFit/>
          </a:bodyPr>
          <a:lstStyle/>
          <a:p>
            <a:pPr algn="l">
              <a:lnSpc>
                <a:spcPts val="4199"/>
              </a:lnSpc>
            </a:pPr>
            <a:r>
              <a:rPr lang="en-US" sz="2999" b="true">
                <a:solidFill>
                  <a:srgbClr val="E6D8B5"/>
                </a:solidFill>
                <a:latin typeface="Ibarra Real Nova Bold"/>
                <a:ea typeface="Ibarra Real Nova Bold"/>
                <a:cs typeface="Ibarra Real Nova Bold"/>
                <a:sym typeface="Ibarra Real Nova Bold"/>
              </a:rPr>
              <a:t>Course: </a:t>
            </a:r>
            <a:r>
              <a:rPr lang="en-US" sz="2999">
                <a:solidFill>
                  <a:srgbClr val="E6D8B5"/>
                </a:solidFill>
                <a:latin typeface="Ibarra Real Nova"/>
                <a:ea typeface="Ibarra Real Nova"/>
                <a:cs typeface="Ibarra Real Nova"/>
                <a:sym typeface="Ibarra Real Nova"/>
              </a:rPr>
              <a:t>Algorithm &amp; Computation Thinking</a:t>
            </a:r>
          </a:p>
        </p:txBody>
      </p:sp>
      <p:sp>
        <p:nvSpPr>
          <p:cNvPr name="TextBox 18" id="18"/>
          <p:cNvSpPr txBox="true"/>
          <p:nvPr/>
        </p:nvSpPr>
        <p:spPr>
          <a:xfrm rot="0">
            <a:off x="3177443" y="4620435"/>
            <a:ext cx="10202429" cy="504825"/>
          </a:xfrm>
          <a:prstGeom prst="rect">
            <a:avLst/>
          </a:prstGeom>
        </p:spPr>
        <p:txBody>
          <a:bodyPr anchor="t" rtlCol="false" tIns="0" lIns="0" bIns="0" rIns="0">
            <a:spAutoFit/>
          </a:bodyPr>
          <a:lstStyle/>
          <a:p>
            <a:pPr algn="l">
              <a:lnSpc>
                <a:spcPts val="4199"/>
              </a:lnSpc>
            </a:pPr>
            <a:r>
              <a:rPr lang="en-US" sz="2999" b="true">
                <a:solidFill>
                  <a:srgbClr val="E6D8B5"/>
                </a:solidFill>
                <a:latin typeface="Ibarra Real Nova Bold"/>
                <a:ea typeface="Ibarra Real Nova Bold"/>
                <a:cs typeface="Ibarra Real Nova Bold"/>
                <a:sym typeface="Ibarra Real Nova Bold"/>
              </a:rPr>
              <a:t>Lecturer: </a:t>
            </a:r>
            <a:r>
              <a:rPr lang="en-US" sz="2999">
                <a:solidFill>
                  <a:srgbClr val="E6D8B5"/>
                </a:solidFill>
                <a:latin typeface="Ibarra Real Nova"/>
                <a:ea typeface="Ibarra Real Nova"/>
                <a:cs typeface="Ibarra Real Nova"/>
                <a:sym typeface="Ibarra Real Nova"/>
              </a:rPr>
              <a:t>Han Leangsiv</a:t>
            </a:r>
          </a:p>
        </p:txBody>
      </p:sp>
      <p:sp>
        <p:nvSpPr>
          <p:cNvPr name="TextBox 19" id="19"/>
          <p:cNvSpPr txBox="true"/>
          <p:nvPr/>
        </p:nvSpPr>
        <p:spPr>
          <a:xfrm rot="0">
            <a:off x="3177443" y="5191936"/>
            <a:ext cx="7234041" cy="504825"/>
          </a:xfrm>
          <a:prstGeom prst="rect">
            <a:avLst/>
          </a:prstGeom>
        </p:spPr>
        <p:txBody>
          <a:bodyPr anchor="t" rtlCol="false" tIns="0" lIns="0" bIns="0" rIns="0">
            <a:spAutoFit/>
          </a:bodyPr>
          <a:lstStyle/>
          <a:p>
            <a:pPr algn="l">
              <a:lnSpc>
                <a:spcPts val="4199"/>
              </a:lnSpc>
            </a:pPr>
            <a:r>
              <a:rPr lang="en-US" sz="2999" b="true">
                <a:solidFill>
                  <a:srgbClr val="E6D8B5"/>
                </a:solidFill>
                <a:latin typeface="Ibarra Real Nova Bold"/>
                <a:ea typeface="Ibarra Real Nova Bold"/>
                <a:cs typeface="Ibarra Real Nova Bold"/>
                <a:sym typeface="Ibarra Real Nova Bold"/>
              </a:rPr>
              <a:t>Group:</a:t>
            </a:r>
            <a:r>
              <a:rPr lang="en-US" sz="2999">
                <a:solidFill>
                  <a:srgbClr val="E6D8B5"/>
                </a:solidFill>
                <a:latin typeface="Ibarra Real Nova"/>
                <a:ea typeface="Ibarra Real Nova"/>
                <a:cs typeface="Ibarra Real Nova"/>
                <a:sym typeface="Ibarra Real Nova"/>
              </a:rPr>
              <a:t> 5</a:t>
            </a:r>
          </a:p>
        </p:txBody>
      </p:sp>
      <p:sp>
        <p:nvSpPr>
          <p:cNvPr name="TextBox 20" id="20"/>
          <p:cNvSpPr txBox="true"/>
          <p:nvPr/>
        </p:nvSpPr>
        <p:spPr>
          <a:xfrm rot="0">
            <a:off x="3177443" y="5764345"/>
            <a:ext cx="7234041" cy="504825"/>
          </a:xfrm>
          <a:prstGeom prst="rect">
            <a:avLst/>
          </a:prstGeom>
        </p:spPr>
        <p:txBody>
          <a:bodyPr anchor="t" rtlCol="false" tIns="0" lIns="0" bIns="0" rIns="0">
            <a:spAutoFit/>
          </a:bodyPr>
          <a:lstStyle/>
          <a:p>
            <a:pPr algn="l">
              <a:lnSpc>
                <a:spcPts val="4199"/>
              </a:lnSpc>
            </a:pPr>
            <a:r>
              <a:rPr lang="en-US" sz="2999" b="true">
                <a:solidFill>
                  <a:srgbClr val="E6D8B5"/>
                </a:solidFill>
                <a:latin typeface="Ibarra Real Nova Bold"/>
                <a:ea typeface="Ibarra Real Nova Bold"/>
                <a:cs typeface="Ibarra Real Nova Bold"/>
                <a:sym typeface="Ibarra Real Nova Bold"/>
              </a:rPr>
              <a:t>Team: </a:t>
            </a:r>
            <a:r>
              <a:rPr lang="en-US" sz="2999">
                <a:solidFill>
                  <a:srgbClr val="E6D8B5"/>
                </a:solidFill>
                <a:latin typeface="Ibarra Real Nova"/>
                <a:ea typeface="Ibarra Real Nova"/>
                <a:cs typeface="Ibarra Real Nova"/>
                <a:sym typeface="Ibarra Real Nova"/>
              </a:rPr>
              <a:t>9</a:t>
            </a:r>
          </a:p>
        </p:txBody>
      </p:sp>
      <p:sp>
        <p:nvSpPr>
          <p:cNvPr name="TextBox 21" id="21"/>
          <p:cNvSpPr txBox="true"/>
          <p:nvPr/>
        </p:nvSpPr>
        <p:spPr>
          <a:xfrm rot="0">
            <a:off x="3159200" y="6354896"/>
            <a:ext cx="10065952" cy="504825"/>
          </a:xfrm>
          <a:prstGeom prst="rect">
            <a:avLst/>
          </a:prstGeom>
        </p:spPr>
        <p:txBody>
          <a:bodyPr anchor="t" rtlCol="false" tIns="0" lIns="0" bIns="0" rIns="0">
            <a:spAutoFit/>
          </a:bodyPr>
          <a:lstStyle/>
          <a:p>
            <a:pPr algn="l">
              <a:lnSpc>
                <a:spcPts val="4199"/>
              </a:lnSpc>
            </a:pPr>
            <a:r>
              <a:rPr lang="en-US" sz="2999" b="true">
                <a:solidFill>
                  <a:srgbClr val="E6D8B5"/>
                </a:solidFill>
                <a:latin typeface="Ibarra Real Nova Bold"/>
                <a:ea typeface="Ibarra Real Nova Bold"/>
                <a:cs typeface="Ibarra Real Nova Bold"/>
                <a:sym typeface="Ibarra Real Nova Bold"/>
              </a:rPr>
              <a:t>Date: 3</a:t>
            </a:r>
            <a:r>
              <a:rPr lang="en-US" sz="2999" b="true">
                <a:solidFill>
                  <a:srgbClr val="E6D8B5"/>
                </a:solidFill>
                <a:latin typeface="Ibarra Real Nova Bold"/>
                <a:ea typeface="Ibarra Real Nova Bold"/>
                <a:cs typeface="Ibarra Real Nova Bold"/>
                <a:sym typeface="Ibarra Real Nova Bold"/>
              </a:rPr>
              <a:t>rd</a:t>
            </a:r>
            <a:r>
              <a:rPr lang="en-US" sz="2999" b="true">
                <a:solidFill>
                  <a:srgbClr val="E6D8B5"/>
                </a:solidFill>
                <a:latin typeface="Ibarra Real Nova Bold"/>
                <a:ea typeface="Ibarra Real Nova Bold"/>
                <a:cs typeface="Ibarra Real Nova Bold"/>
                <a:sym typeface="Ibarra Real Nova Bold"/>
              </a:rPr>
              <a:t> July 2026</a:t>
            </a:r>
          </a:p>
        </p:txBody>
      </p:sp>
      <p:sp>
        <p:nvSpPr>
          <p:cNvPr name="TextBox 22" id="22"/>
          <p:cNvSpPr txBox="true"/>
          <p:nvPr/>
        </p:nvSpPr>
        <p:spPr>
          <a:xfrm rot="0">
            <a:off x="3177443" y="6907346"/>
            <a:ext cx="9315325" cy="587376"/>
          </a:xfrm>
          <a:prstGeom prst="rect">
            <a:avLst/>
          </a:prstGeom>
        </p:spPr>
        <p:txBody>
          <a:bodyPr anchor="t" rtlCol="false" tIns="0" lIns="0" bIns="0" rIns="0">
            <a:spAutoFit/>
          </a:bodyPr>
          <a:lstStyle/>
          <a:p>
            <a:pPr algn="l">
              <a:lnSpc>
                <a:spcPts val="4899"/>
              </a:lnSpc>
            </a:pPr>
            <a:r>
              <a:rPr lang="en-US" sz="3499" b="true">
                <a:solidFill>
                  <a:srgbClr val="E6D8B5"/>
                </a:solidFill>
                <a:latin typeface="Ibarra Real Nova Bold"/>
                <a:ea typeface="Ibarra Real Nova Bold"/>
                <a:cs typeface="Ibarra Real Nova Bold"/>
                <a:sym typeface="Ibarra Real Nova Bold"/>
              </a:rPr>
              <a:t>Presented by: </a:t>
            </a:r>
          </a:p>
        </p:txBody>
      </p:sp>
      <p:sp>
        <p:nvSpPr>
          <p:cNvPr name="TextBox 23" id="23"/>
          <p:cNvSpPr txBox="true"/>
          <p:nvPr/>
        </p:nvSpPr>
        <p:spPr>
          <a:xfrm rot="0">
            <a:off x="8300001" y="8737032"/>
            <a:ext cx="2218489" cy="422275"/>
          </a:xfrm>
          <a:prstGeom prst="rect">
            <a:avLst/>
          </a:prstGeom>
        </p:spPr>
        <p:txBody>
          <a:bodyPr anchor="t" rtlCol="false" tIns="0" lIns="0" bIns="0" rIns="0">
            <a:spAutoFit/>
          </a:bodyPr>
          <a:lstStyle/>
          <a:p>
            <a:pPr algn="l">
              <a:lnSpc>
                <a:spcPts val="3499"/>
              </a:lnSpc>
            </a:pPr>
            <a:r>
              <a:rPr lang="en-US" sz="2499" b="true">
                <a:solidFill>
                  <a:srgbClr val="E6D8B5"/>
                </a:solidFill>
                <a:latin typeface="Ibarra Real Nova Bold"/>
                <a:ea typeface="Ibarra Real Nova Bold"/>
                <a:cs typeface="Ibarra Real Nova Bold"/>
                <a:sym typeface="Ibarra Real Nova Bold"/>
              </a:rPr>
              <a:t>Choeun Linda</a:t>
            </a:r>
          </a:p>
        </p:txBody>
      </p:sp>
      <p:sp>
        <p:nvSpPr>
          <p:cNvPr name="TextBox 24" id="24"/>
          <p:cNvSpPr txBox="true"/>
          <p:nvPr/>
        </p:nvSpPr>
        <p:spPr>
          <a:xfrm rot="0">
            <a:off x="12219448" y="8737032"/>
            <a:ext cx="2320847" cy="422275"/>
          </a:xfrm>
          <a:prstGeom prst="rect">
            <a:avLst/>
          </a:prstGeom>
        </p:spPr>
        <p:txBody>
          <a:bodyPr anchor="t" rtlCol="false" tIns="0" lIns="0" bIns="0" rIns="0">
            <a:spAutoFit/>
          </a:bodyPr>
          <a:lstStyle/>
          <a:p>
            <a:pPr algn="l">
              <a:lnSpc>
                <a:spcPts val="3499"/>
              </a:lnSpc>
            </a:pPr>
            <a:r>
              <a:rPr lang="en-US" sz="2499" b="true">
                <a:solidFill>
                  <a:srgbClr val="E6D8B5"/>
                </a:solidFill>
                <a:latin typeface="Ibarra Real Nova Bold"/>
                <a:ea typeface="Ibarra Real Nova Bold"/>
                <a:cs typeface="Ibarra Real Nova Bold"/>
                <a:sym typeface="Ibarra Real Nova Bold"/>
              </a:rPr>
              <a:t>Oeurn Meylih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true" flipV="false" rot="0">
            <a:off x="9677440" y="8828263"/>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9833" y="1559250"/>
            <a:ext cx="2030108" cy="9382851"/>
          </a:xfrm>
          <a:custGeom>
            <a:avLst/>
            <a:gdLst/>
            <a:ahLst/>
            <a:cxnLst/>
            <a:rect r="r" b="b" t="t" l="l"/>
            <a:pathLst>
              <a:path h="9382851" w="2030108">
                <a:moveTo>
                  <a:pt x="0" y="0"/>
                </a:moveTo>
                <a:lnTo>
                  <a:pt x="2030108" y="0"/>
                </a:lnTo>
                <a:lnTo>
                  <a:pt x="2030108" y="9382850"/>
                </a:lnTo>
                <a:lnTo>
                  <a:pt x="0" y="93828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274653" y="2394969"/>
            <a:ext cx="13591622" cy="7236435"/>
            <a:chOff x="0" y="0"/>
            <a:chExt cx="3579687" cy="1905892"/>
          </a:xfrm>
        </p:grpSpPr>
        <p:sp>
          <p:nvSpPr>
            <p:cNvPr name="Freeform 5" id="5"/>
            <p:cNvSpPr/>
            <p:nvPr/>
          </p:nvSpPr>
          <p:spPr>
            <a:xfrm flipH="false" flipV="false" rot="0">
              <a:off x="0" y="0"/>
              <a:ext cx="3579687" cy="1905892"/>
            </a:xfrm>
            <a:custGeom>
              <a:avLst/>
              <a:gdLst/>
              <a:ahLst/>
              <a:cxnLst/>
              <a:rect r="r" b="b" t="t" l="l"/>
              <a:pathLst>
                <a:path h="1905892" w="3579687">
                  <a:moveTo>
                    <a:pt x="0" y="0"/>
                  </a:moveTo>
                  <a:lnTo>
                    <a:pt x="3579687" y="0"/>
                  </a:lnTo>
                  <a:lnTo>
                    <a:pt x="3579687" y="1905892"/>
                  </a:lnTo>
                  <a:lnTo>
                    <a:pt x="0" y="1905892"/>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579687" cy="194399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618758"/>
            <a:ext cx="14377672" cy="2107671"/>
            <a:chOff x="0" y="0"/>
            <a:chExt cx="3786712" cy="555107"/>
          </a:xfrm>
        </p:grpSpPr>
        <p:sp>
          <p:nvSpPr>
            <p:cNvPr name="Freeform 8" id="8"/>
            <p:cNvSpPr/>
            <p:nvPr/>
          </p:nvSpPr>
          <p:spPr>
            <a:xfrm flipH="false" flipV="false" rot="0">
              <a:off x="0" y="0"/>
              <a:ext cx="3786712" cy="555107"/>
            </a:xfrm>
            <a:custGeom>
              <a:avLst/>
              <a:gdLst/>
              <a:ahLst/>
              <a:cxnLst/>
              <a:rect r="r" b="b" t="t" l="l"/>
              <a:pathLst>
                <a:path h="555107" w="3786712">
                  <a:moveTo>
                    <a:pt x="0" y="0"/>
                  </a:moveTo>
                  <a:lnTo>
                    <a:pt x="3786712" y="0"/>
                  </a:lnTo>
                  <a:lnTo>
                    <a:pt x="3786712" y="555107"/>
                  </a:lnTo>
                  <a:lnTo>
                    <a:pt x="0" y="555107"/>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59320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Freeform 11" id="11"/>
          <p:cNvSpPr/>
          <p:nvPr/>
        </p:nvSpPr>
        <p:spPr>
          <a:xfrm flipH="false" flipV="false" rot="0">
            <a:off x="12261437" y="3834567"/>
            <a:ext cx="3391311" cy="5395267"/>
          </a:xfrm>
          <a:custGeom>
            <a:avLst/>
            <a:gdLst/>
            <a:ahLst/>
            <a:cxnLst/>
            <a:rect r="r" b="b" t="t" l="l"/>
            <a:pathLst>
              <a:path h="5395267" w="3391311">
                <a:moveTo>
                  <a:pt x="0" y="0"/>
                </a:moveTo>
                <a:lnTo>
                  <a:pt x="3391310" y="0"/>
                </a:lnTo>
                <a:lnTo>
                  <a:pt x="3391310" y="5395267"/>
                </a:lnTo>
                <a:lnTo>
                  <a:pt x="0" y="5395267"/>
                </a:lnTo>
                <a:lnTo>
                  <a:pt x="0" y="0"/>
                </a:lnTo>
                <a:close/>
              </a:path>
            </a:pathLst>
          </a:custGeom>
          <a:blipFill>
            <a:blip r:embed="rId7"/>
            <a:stretch>
              <a:fillRect l="0" t="0" r="0" b="0"/>
            </a:stretch>
          </a:blipFill>
        </p:spPr>
      </p:sp>
      <p:sp>
        <p:nvSpPr>
          <p:cNvPr name="TextBox 12" id="12"/>
          <p:cNvSpPr txBox="true"/>
          <p:nvPr/>
        </p:nvSpPr>
        <p:spPr>
          <a:xfrm rot="0">
            <a:off x="3893080" y="1723268"/>
            <a:ext cx="12354767" cy="1708151"/>
          </a:xfrm>
          <a:prstGeom prst="rect">
            <a:avLst/>
          </a:prstGeom>
        </p:spPr>
        <p:txBody>
          <a:bodyPr anchor="t" rtlCol="false" tIns="0" lIns="0" bIns="0" rIns="0">
            <a:spAutoFit/>
          </a:bodyPr>
          <a:lstStyle/>
          <a:p>
            <a:pPr algn="ctr">
              <a:lnSpc>
                <a:spcPts val="13999"/>
              </a:lnSpc>
            </a:pPr>
            <a:r>
              <a:rPr lang="en-US" sz="9999">
                <a:solidFill>
                  <a:srgbClr val="E6D8B5"/>
                </a:solidFill>
                <a:latin typeface="EFCO Brookshire"/>
                <a:ea typeface="EFCO Brookshire"/>
                <a:cs typeface="EFCO Brookshire"/>
                <a:sym typeface="EFCO Brookshire"/>
              </a:rPr>
              <a:t>Introduct</a:t>
            </a:r>
            <a:r>
              <a:rPr lang="en-US" sz="9999">
                <a:solidFill>
                  <a:srgbClr val="E6D8B5"/>
                </a:solidFill>
                <a:latin typeface="EFCO Brookshire"/>
                <a:ea typeface="EFCO Brookshire"/>
                <a:cs typeface="EFCO Brookshire"/>
                <a:sym typeface="EFCO Brookshire"/>
              </a:rPr>
              <a:t>ion &amp; Overview</a:t>
            </a:r>
          </a:p>
        </p:txBody>
      </p:sp>
      <p:sp>
        <p:nvSpPr>
          <p:cNvPr name="TextBox 13" id="13"/>
          <p:cNvSpPr txBox="true"/>
          <p:nvPr/>
        </p:nvSpPr>
        <p:spPr>
          <a:xfrm rot="0">
            <a:off x="3828668" y="4062088"/>
            <a:ext cx="7589204" cy="905510"/>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E6D8B5"/>
                </a:solidFill>
                <a:latin typeface="Ibarra Real Nova"/>
                <a:ea typeface="Ibarra Real Nova"/>
                <a:cs typeface="Ibarra Real Nova"/>
                <a:sym typeface="Ibarra Real Nova"/>
              </a:rPr>
              <a:t>TitanLift is a smart elevator system in 10-floor building where floor 9 is a VIP and 10 is a sky bar</a:t>
            </a:r>
          </a:p>
        </p:txBody>
      </p:sp>
      <p:sp>
        <p:nvSpPr>
          <p:cNvPr name="TextBox 14" id="14"/>
          <p:cNvSpPr txBox="true"/>
          <p:nvPr/>
        </p:nvSpPr>
        <p:spPr>
          <a:xfrm rot="0">
            <a:off x="3828668" y="5303257"/>
            <a:ext cx="7234041" cy="1362710"/>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E6D8B5"/>
                </a:solidFill>
                <a:latin typeface="Ibarra Real Nova"/>
                <a:ea typeface="Ibarra Real Nova"/>
                <a:cs typeface="Ibarra Real Nova"/>
                <a:sym typeface="Ibarra Real Nova"/>
              </a:rPr>
              <a:t>TitanLift got inspired by THE TITANIC which had 4 elevators, 3 reserved for first class and 1 for everyone else</a:t>
            </a:r>
          </a:p>
        </p:txBody>
      </p:sp>
      <p:sp>
        <p:nvSpPr>
          <p:cNvPr name="TextBox 15" id="15"/>
          <p:cNvSpPr txBox="true"/>
          <p:nvPr/>
        </p:nvSpPr>
        <p:spPr>
          <a:xfrm rot="0">
            <a:off x="3828668" y="7008353"/>
            <a:ext cx="7589204" cy="1819910"/>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E6D8B5"/>
                </a:solidFill>
                <a:latin typeface="Ibarra Real Nova"/>
                <a:ea typeface="Ibarra Real Nova"/>
                <a:cs typeface="Ibarra Real Nova"/>
                <a:sym typeface="Ibarra Real Nova"/>
              </a:rPr>
              <a:t>TitanLift got from "TITAN + LIFT" which TITAN means strength, scale and power ,with "LIFT" simply the elevator itself, the thing that carries us up and down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9243536"/>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463489" y="9243536"/>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274653" y="2194483"/>
            <a:ext cx="13591622" cy="7236435"/>
            <a:chOff x="0" y="0"/>
            <a:chExt cx="3579687" cy="1905892"/>
          </a:xfrm>
        </p:grpSpPr>
        <p:sp>
          <p:nvSpPr>
            <p:cNvPr name="Freeform 5" id="5"/>
            <p:cNvSpPr/>
            <p:nvPr/>
          </p:nvSpPr>
          <p:spPr>
            <a:xfrm flipH="false" flipV="false" rot="0">
              <a:off x="0" y="0"/>
              <a:ext cx="3579687" cy="1905892"/>
            </a:xfrm>
            <a:custGeom>
              <a:avLst/>
              <a:gdLst/>
              <a:ahLst/>
              <a:cxnLst/>
              <a:rect r="r" b="b" t="t" l="l"/>
              <a:pathLst>
                <a:path h="1905892" w="3579687">
                  <a:moveTo>
                    <a:pt x="0" y="0"/>
                  </a:moveTo>
                  <a:lnTo>
                    <a:pt x="3579687" y="0"/>
                  </a:lnTo>
                  <a:lnTo>
                    <a:pt x="3579687" y="1905892"/>
                  </a:lnTo>
                  <a:lnTo>
                    <a:pt x="0" y="1905892"/>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579687" cy="194399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618758"/>
            <a:ext cx="14377672" cy="2107671"/>
            <a:chOff x="0" y="0"/>
            <a:chExt cx="3786712" cy="555107"/>
          </a:xfrm>
        </p:grpSpPr>
        <p:sp>
          <p:nvSpPr>
            <p:cNvPr name="Freeform 8" id="8"/>
            <p:cNvSpPr/>
            <p:nvPr/>
          </p:nvSpPr>
          <p:spPr>
            <a:xfrm flipH="false" flipV="false" rot="0">
              <a:off x="0" y="0"/>
              <a:ext cx="3786712" cy="555107"/>
            </a:xfrm>
            <a:custGeom>
              <a:avLst/>
              <a:gdLst/>
              <a:ahLst/>
              <a:cxnLst/>
              <a:rect r="r" b="b" t="t" l="l"/>
              <a:pathLst>
                <a:path h="555107" w="3786712">
                  <a:moveTo>
                    <a:pt x="0" y="0"/>
                  </a:moveTo>
                  <a:lnTo>
                    <a:pt x="3786712" y="0"/>
                  </a:lnTo>
                  <a:lnTo>
                    <a:pt x="3786712" y="555107"/>
                  </a:lnTo>
                  <a:lnTo>
                    <a:pt x="0" y="555107"/>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59320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2161887" y="4453270"/>
            <a:ext cx="7315200" cy="1646175"/>
          </a:xfrm>
          <a:custGeom>
            <a:avLst/>
            <a:gdLst/>
            <a:ahLst/>
            <a:cxnLst/>
            <a:rect r="r" b="b" t="t" l="l"/>
            <a:pathLst>
              <a:path h="1646175" w="7315200">
                <a:moveTo>
                  <a:pt x="0" y="0"/>
                </a:moveTo>
                <a:lnTo>
                  <a:pt x="7315200" y="0"/>
                </a:lnTo>
                <a:lnTo>
                  <a:pt x="7315200" y="1646175"/>
                </a:lnTo>
                <a:lnTo>
                  <a:pt x="0" y="1646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6524511" y="3892479"/>
            <a:ext cx="812726" cy="81272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8B6F47"/>
            </a:solidFill>
          </p:spPr>
        </p:sp>
        <p:sp>
          <p:nvSpPr>
            <p:cNvPr name="TextBox 13" id="13"/>
            <p:cNvSpPr txBox="true"/>
            <p:nvPr/>
          </p:nvSpPr>
          <p:spPr>
            <a:xfrm>
              <a:off x="63500" y="25400"/>
              <a:ext cx="685800" cy="7239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6524511" y="4990085"/>
            <a:ext cx="822616" cy="8226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8B6F47"/>
            </a:solidFill>
          </p:spPr>
        </p:sp>
        <p:sp>
          <p:nvSpPr>
            <p:cNvPr name="TextBox 16" id="16"/>
            <p:cNvSpPr txBox="true"/>
            <p:nvPr/>
          </p:nvSpPr>
          <p:spPr>
            <a:xfrm>
              <a:off x="63500" y="25400"/>
              <a:ext cx="685800" cy="7239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6534401" y="6144371"/>
            <a:ext cx="812726" cy="81272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8B6F47"/>
            </a:solidFill>
          </p:spPr>
        </p:sp>
        <p:sp>
          <p:nvSpPr>
            <p:cNvPr name="TextBox 19" id="19"/>
            <p:cNvSpPr txBox="true"/>
            <p:nvPr/>
          </p:nvSpPr>
          <p:spPr>
            <a:xfrm>
              <a:off x="63500" y="25400"/>
              <a:ext cx="685800" cy="7239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6534401" y="7264940"/>
            <a:ext cx="847395" cy="84739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8B6F47"/>
            </a:solidFill>
          </p:spPr>
        </p:sp>
        <p:sp>
          <p:nvSpPr>
            <p:cNvPr name="TextBox 22" id="22"/>
            <p:cNvSpPr txBox="true"/>
            <p:nvPr/>
          </p:nvSpPr>
          <p:spPr>
            <a:xfrm>
              <a:off x="63500" y="25400"/>
              <a:ext cx="685800" cy="7239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4033102" y="1723268"/>
            <a:ext cx="12738306" cy="1708151"/>
          </a:xfrm>
          <a:prstGeom prst="rect">
            <a:avLst/>
          </a:prstGeom>
        </p:spPr>
        <p:txBody>
          <a:bodyPr anchor="t" rtlCol="false" tIns="0" lIns="0" bIns="0" rIns="0">
            <a:spAutoFit/>
          </a:bodyPr>
          <a:lstStyle/>
          <a:p>
            <a:pPr algn="ctr">
              <a:lnSpc>
                <a:spcPts val="13999"/>
              </a:lnSpc>
            </a:pPr>
            <a:r>
              <a:rPr lang="en-US" sz="9999">
                <a:solidFill>
                  <a:srgbClr val="E6D8B5"/>
                </a:solidFill>
                <a:latin typeface="EFCO Brookshire"/>
                <a:ea typeface="EFCO Brookshire"/>
                <a:cs typeface="EFCO Brookshire"/>
                <a:sym typeface="EFCO Brookshire"/>
              </a:rPr>
              <a:t>Key Features of System</a:t>
            </a:r>
          </a:p>
        </p:txBody>
      </p:sp>
      <p:sp>
        <p:nvSpPr>
          <p:cNvPr name="TextBox 24" id="24"/>
          <p:cNvSpPr txBox="true"/>
          <p:nvPr/>
        </p:nvSpPr>
        <p:spPr>
          <a:xfrm rot="0">
            <a:off x="6524511" y="5024379"/>
            <a:ext cx="767900" cy="677828"/>
          </a:xfrm>
          <a:prstGeom prst="rect">
            <a:avLst/>
          </a:prstGeom>
        </p:spPr>
        <p:txBody>
          <a:bodyPr anchor="t" rtlCol="false" tIns="0" lIns="0" bIns="0" rIns="0">
            <a:spAutoFit/>
          </a:bodyPr>
          <a:lstStyle/>
          <a:p>
            <a:pPr algn="ctr">
              <a:lnSpc>
                <a:spcPts val="5549"/>
              </a:lnSpc>
            </a:pPr>
            <a:r>
              <a:rPr lang="en-US" sz="3964">
                <a:solidFill>
                  <a:srgbClr val="E6D8B5"/>
                </a:solidFill>
                <a:latin typeface="EFCO Brookshire"/>
                <a:ea typeface="EFCO Brookshire"/>
                <a:cs typeface="EFCO Brookshire"/>
                <a:sym typeface="EFCO Brookshire"/>
              </a:rPr>
              <a:t>02</a:t>
            </a:r>
          </a:p>
        </p:txBody>
      </p:sp>
      <p:sp>
        <p:nvSpPr>
          <p:cNvPr name="TextBox 25" id="25"/>
          <p:cNvSpPr txBox="true"/>
          <p:nvPr/>
        </p:nvSpPr>
        <p:spPr>
          <a:xfrm rot="0">
            <a:off x="7791001" y="4063891"/>
            <a:ext cx="5736045" cy="422275"/>
          </a:xfrm>
          <a:prstGeom prst="rect">
            <a:avLst/>
          </a:prstGeom>
        </p:spPr>
        <p:txBody>
          <a:bodyPr anchor="t" rtlCol="false" tIns="0" lIns="0" bIns="0" rIns="0">
            <a:spAutoFit/>
          </a:bodyPr>
          <a:lstStyle/>
          <a:p>
            <a:pPr algn="l">
              <a:lnSpc>
                <a:spcPts val="3499"/>
              </a:lnSpc>
            </a:pPr>
            <a:r>
              <a:rPr lang="en-US" sz="2499">
                <a:solidFill>
                  <a:srgbClr val="E6D8B5"/>
                </a:solidFill>
                <a:latin typeface="Ibarra Real Nova"/>
                <a:ea typeface="Ibarra Real Nova"/>
                <a:cs typeface="Ibarra Real Nova"/>
                <a:sym typeface="Ibarra Real Nova"/>
              </a:rPr>
              <a:t>Floor Request Queue(Priority-Based)</a:t>
            </a:r>
          </a:p>
        </p:txBody>
      </p:sp>
      <p:sp>
        <p:nvSpPr>
          <p:cNvPr name="Freeform 26" id="26"/>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grpSp>
        <p:nvGrpSpPr>
          <p:cNvPr name="Group 27" id="27"/>
          <p:cNvGrpSpPr/>
          <p:nvPr/>
        </p:nvGrpSpPr>
        <p:grpSpPr>
          <a:xfrm rot="0">
            <a:off x="6534401" y="8382438"/>
            <a:ext cx="847395" cy="84739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8B6F47"/>
            </a:solidFill>
          </p:spPr>
        </p:sp>
        <p:sp>
          <p:nvSpPr>
            <p:cNvPr name="TextBox 29" id="29"/>
            <p:cNvSpPr txBox="true"/>
            <p:nvPr/>
          </p:nvSpPr>
          <p:spPr>
            <a:xfrm>
              <a:off x="63500" y="25400"/>
              <a:ext cx="685800" cy="723900"/>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7791001" y="5153536"/>
            <a:ext cx="3330627" cy="422275"/>
          </a:xfrm>
          <a:prstGeom prst="rect">
            <a:avLst/>
          </a:prstGeom>
        </p:spPr>
        <p:txBody>
          <a:bodyPr anchor="t" rtlCol="false" tIns="0" lIns="0" bIns="0" rIns="0">
            <a:spAutoFit/>
          </a:bodyPr>
          <a:lstStyle/>
          <a:p>
            <a:pPr algn="l">
              <a:lnSpc>
                <a:spcPts val="3499"/>
              </a:lnSpc>
            </a:pPr>
            <a:r>
              <a:rPr lang="en-US" sz="2499">
                <a:solidFill>
                  <a:srgbClr val="E6D8B5"/>
                </a:solidFill>
                <a:latin typeface="Ibarra Real Nova"/>
                <a:ea typeface="Ibarra Real Nova"/>
                <a:cs typeface="Ibarra Real Nova"/>
                <a:sym typeface="Ibarra Real Nova"/>
              </a:rPr>
              <a:t>VIP Express Mode</a:t>
            </a:r>
          </a:p>
        </p:txBody>
      </p:sp>
      <p:sp>
        <p:nvSpPr>
          <p:cNvPr name="TextBox 31" id="31"/>
          <p:cNvSpPr txBox="true"/>
          <p:nvPr/>
        </p:nvSpPr>
        <p:spPr>
          <a:xfrm rot="0">
            <a:off x="7791001" y="6315784"/>
            <a:ext cx="4900120" cy="422275"/>
          </a:xfrm>
          <a:prstGeom prst="rect">
            <a:avLst/>
          </a:prstGeom>
        </p:spPr>
        <p:txBody>
          <a:bodyPr anchor="t" rtlCol="false" tIns="0" lIns="0" bIns="0" rIns="0">
            <a:spAutoFit/>
          </a:bodyPr>
          <a:lstStyle/>
          <a:p>
            <a:pPr algn="l">
              <a:lnSpc>
                <a:spcPts val="3499"/>
              </a:lnSpc>
            </a:pPr>
            <a:r>
              <a:rPr lang="en-US" sz="2499">
                <a:solidFill>
                  <a:srgbClr val="E6D8B5"/>
                </a:solidFill>
                <a:latin typeface="Ibarra Real Nova"/>
                <a:ea typeface="Ibarra Real Nova"/>
                <a:cs typeface="Ibarra Real Nova"/>
                <a:sym typeface="Ibarra Real Nova"/>
              </a:rPr>
              <a:t>Card Scan Authentication</a:t>
            </a:r>
          </a:p>
        </p:txBody>
      </p:sp>
      <p:sp>
        <p:nvSpPr>
          <p:cNvPr name="TextBox 32" id="32"/>
          <p:cNvSpPr txBox="true"/>
          <p:nvPr/>
        </p:nvSpPr>
        <p:spPr>
          <a:xfrm rot="0">
            <a:off x="7791001" y="7453688"/>
            <a:ext cx="3330627" cy="422275"/>
          </a:xfrm>
          <a:prstGeom prst="rect">
            <a:avLst/>
          </a:prstGeom>
        </p:spPr>
        <p:txBody>
          <a:bodyPr anchor="t" rtlCol="false" tIns="0" lIns="0" bIns="0" rIns="0">
            <a:spAutoFit/>
          </a:bodyPr>
          <a:lstStyle/>
          <a:p>
            <a:pPr algn="l">
              <a:lnSpc>
                <a:spcPts val="3499"/>
              </a:lnSpc>
            </a:pPr>
            <a:r>
              <a:rPr lang="en-US" sz="2499">
                <a:solidFill>
                  <a:srgbClr val="E6D8B5"/>
                </a:solidFill>
                <a:latin typeface="Ibarra Real Nova"/>
                <a:ea typeface="Ibarra Real Nova"/>
                <a:cs typeface="Ibarra Real Nova"/>
                <a:sym typeface="Ibarra Real Nova"/>
              </a:rPr>
              <a:t>Emergency Alarm Mode </a:t>
            </a:r>
          </a:p>
        </p:txBody>
      </p:sp>
      <p:sp>
        <p:nvSpPr>
          <p:cNvPr name="TextBox 33" id="33"/>
          <p:cNvSpPr txBox="true"/>
          <p:nvPr/>
        </p:nvSpPr>
        <p:spPr>
          <a:xfrm rot="0">
            <a:off x="7791001" y="8542713"/>
            <a:ext cx="4900120" cy="422275"/>
          </a:xfrm>
          <a:prstGeom prst="rect">
            <a:avLst/>
          </a:prstGeom>
        </p:spPr>
        <p:txBody>
          <a:bodyPr anchor="t" rtlCol="false" tIns="0" lIns="0" bIns="0" rIns="0">
            <a:spAutoFit/>
          </a:bodyPr>
          <a:lstStyle/>
          <a:p>
            <a:pPr algn="l">
              <a:lnSpc>
                <a:spcPts val="3499"/>
              </a:lnSpc>
            </a:pPr>
            <a:r>
              <a:rPr lang="en-US" sz="2499">
                <a:solidFill>
                  <a:srgbClr val="E6D8B5"/>
                </a:solidFill>
                <a:latin typeface="Ibarra Real Nova"/>
                <a:ea typeface="Ibarra Real Nova"/>
                <a:cs typeface="Ibarra Real Nova"/>
                <a:sym typeface="Ibarra Real Nova"/>
              </a:rPr>
              <a:t>Passenger Capacity Limit</a:t>
            </a:r>
          </a:p>
        </p:txBody>
      </p:sp>
      <p:sp>
        <p:nvSpPr>
          <p:cNvPr name="TextBox 34" id="34"/>
          <p:cNvSpPr txBox="true"/>
          <p:nvPr/>
        </p:nvSpPr>
        <p:spPr>
          <a:xfrm rot="0">
            <a:off x="6524511" y="3921827"/>
            <a:ext cx="767900" cy="677828"/>
          </a:xfrm>
          <a:prstGeom prst="rect">
            <a:avLst/>
          </a:prstGeom>
        </p:spPr>
        <p:txBody>
          <a:bodyPr anchor="t" rtlCol="false" tIns="0" lIns="0" bIns="0" rIns="0">
            <a:spAutoFit/>
          </a:bodyPr>
          <a:lstStyle/>
          <a:p>
            <a:pPr algn="ctr">
              <a:lnSpc>
                <a:spcPts val="5549"/>
              </a:lnSpc>
            </a:pPr>
            <a:r>
              <a:rPr lang="en-US" sz="3964">
                <a:solidFill>
                  <a:srgbClr val="E6D8B5"/>
                </a:solidFill>
                <a:latin typeface="EFCO Brookshire"/>
                <a:ea typeface="EFCO Brookshire"/>
                <a:cs typeface="EFCO Brookshire"/>
                <a:sym typeface="EFCO Brookshire"/>
              </a:rPr>
              <a:t>01</a:t>
            </a:r>
          </a:p>
        </p:txBody>
      </p:sp>
      <p:sp>
        <p:nvSpPr>
          <p:cNvPr name="TextBox 35" id="35"/>
          <p:cNvSpPr txBox="true"/>
          <p:nvPr/>
        </p:nvSpPr>
        <p:spPr>
          <a:xfrm rot="0">
            <a:off x="6556814" y="8426661"/>
            <a:ext cx="767900" cy="677828"/>
          </a:xfrm>
          <a:prstGeom prst="rect">
            <a:avLst/>
          </a:prstGeom>
        </p:spPr>
        <p:txBody>
          <a:bodyPr anchor="t" rtlCol="false" tIns="0" lIns="0" bIns="0" rIns="0">
            <a:spAutoFit/>
          </a:bodyPr>
          <a:lstStyle/>
          <a:p>
            <a:pPr algn="ctr">
              <a:lnSpc>
                <a:spcPts val="5549"/>
              </a:lnSpc>
            </a:pPr>
            <a:r>
              <a:rPr lang="en-US" sz="3964">
                <a:solidFill>
                  <a:srgbClr val="E6D8B5"/>
                </a:solidFill>
                <a:latin typeface="EFCO Brookshire"/>
                <a:ea typeface="EFCO Brookshire"/>
                <a:cs typeface="EFCO Brookshire"/>
                <a:sym typeface="EFCO Brookshire"/>
              </a:rPr>
              <a:t>05</a:t>
            </a:r>
          </a:p>
        </p:txBody>
      </p:sp>
      <p:sp>
        <p:nvSpPr>
          <p:cNvPr name="TextBox 36" id="36"/>
          <p:cNvSpPr txBox="true"/>
          <p:nvPr/>
        </p:nvSpPr>
        <p:spPr>
          <a:xfrm rot="0">
            <a:off x="6534401" y="6161806"/>
            <a:ext cx="767900" cy="677828"/>
          </a:xfrm>
          <a:prstGeom prst="rect">
            <a:avLst/>
          </a:prstGeom>
        </p:spPr>
        <p:txBody>
          <a:bodyPr anchor="t" rtlCol="false" tIns="0" lIns="0" bIns="0" rIns="0">
            <a:spAutoFit/>
          </a:bodyPr>
          <a:lstStyle/>
          <a:p>
            <a:pPr algn="ctr">
              <a:lnSpc>
                <a:spcPts val="5549"/>
              </a:lnSpc>
            </a:pPr>
            <a:r>
              <a:rPr lang="en-US" sz="3964">
                <a:solidFill>
                  <a:srgbClr val="E6D8B5"/>
                </a:solidFill>
                <a:latin typeface="EFCO Brookshire"/>
                <a:ea typeface="EFCO Brookshire"/>
                <a:cs typeface="EFCO Brookshire"/>
                <a:sym typeface="EFCO Brookshire"/>
              </a:rPr>
              <a:t>03</a:t>
            </a:r>
          </a:p>
        </p:txBody>
      </p:sp>
      <p:sp>
        <p:nvSpPr>
          <p:cNvPr name="TextBox 37" id="37"/>
          <p:cNvSpPr txBox="true"/>
          <p:nvPr/>
        </p:nvSpPr>
        <p:spPr>
          <a:xfrm rot="0">
            <a:off x="6551869" y="7319047"/>
            <a:ext cx="767900" cy="677828"/>
          </a:xfrm>
          <a:prstGeom prst="rect">
            <a:avLst/>
          </a:prstGeom>
        </p:spPr>
        <p:txBody>
          <a:bodyPr anchor="t" rtlCol="false" tIns="0" lIns="0" bIns="0" rIns="0">
            <a:spAutoFit/>
          </a:bodyPr>
          <a:lstStyle/>
          <a:p>
            <a:pPr algn="ctr">
              <a:lnSpc>
                <a:spcPts val="5549"/>
              </a:lnSpc>
            </a:pPr>
            <a:r>
              <a:rPr lang="en-US" sz="3964">
                <a:solidFill>
                  <a:srgbClr val="E6D8B5"/>
                </a:solidFill>
                <a:latin typeface="EFCO Brookshire"/>
                <a:ea typeface="EFCO Brookshire"/>
                <a:cs typeface="EFCO Brookshire"/>
                <a:sym typeface="EFCO Brookshire"/>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96600" y="9369507"/>
            <a:ext cx="7173865" cy="847820"/>
          </a:xfrm>
          <a:custGeom>
            <a:avLst/>
            <a:gdLst/>
            <a:ahLst/>
            <a:cxnLst/>
            <a:rect r="r" b="b" t="t" l="l"/>
            <a:pathLst>
              <a:path h="847820" w="7173865">
                <a:moveTo>
                  <a:pt x="0" y="0"/>
                </a:moveTo>
                <a:lnTo>
                  <a:pt x="7173864" y="0"/>
                </a:lnTo>
                <a:lnTo>
                  <a:pt x="7173864" y="847820"/>
                </a:lnTo>
                <a:lnTo>
                  <a:pt x="0" y="84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939934" y="9379032"/>
            <a:ext cx="7019274" cy="829551"/>
          </a:xfrm>
          <a:custGeom>
            <a:avLst/>
            <a:gdLst/>
            <a:ahLst/>
            <a:cxnLst/>
            <a:rect r="r" b="b" t="t" l="l"/>
            <a:pathLst>
              <a:path h="829551" w="7019274">
                <a:moveTo>
                  <a:pt x="7019274" y="0"/>
                </a:moveTo>
                <a:lnTo>
                  <a:pt x="0" y="0"/>
                </a:lnTo>
                <a:lnTo>
                  <a:pt x="0" y="829550"/>
                </a:lnTo>
                <a:lnTo>
                  <a:pt x="7019274" y="829550"/>
                </a:lnTo>
                <a:lnTo>
                  <a:pt x="701927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4377672" cy="7109517"/>
            <a:chOff x="0" y="0"/>
            <a:chExt cx="3786712" cy="1872465"/>
          </a:xfrm>
        </p:grpSpPr>
        <p:sp>
          <p:nvSpPr>
            <p:cNvPr name="Freeform 5" id="5"/>
            <p:cNvSpPr/>
            <p:nvPr/>
          </p:nvSpPr>
          <p:spPr>
            <a:xfrm flipH="false" flipV="false" rot="0">
              <a:off x="0" y="0"/>
              <a:ext cx="3786712" cy="1872465"/>
            </a:xfrm>
            <a:custGeom>
              <a:avLst/>
              <a:gdLst/>
              <a:ahLst/>
              <a:cxnLst/>
              <a:rect r="r" b="b" t="t" l="l"/>
              <a:pathLst>
                <a:path h="1872465" w="3786712">
                  <a:moveTo>
                    <a:pt x="0" y="0"/>
                  </a:moveTo>
                  <a:lnTo>
                    <a:pt x="3786712" y="0"/>
                  </a:lnTo>
                  <a:lnTo>
                    <a:pt x="3786712" y="1872465"/>
                  </a:lnTo>
                  <a:lnTo>
                    <a:pt x="0" y="1872465"/>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191056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618758"/>
            <a:ext cx="14377672" cy="2107671"/>
            <a:chOff x="0" y="0"/>
            <a:chExt cx="3786712" cy="555107"/>
          </a:xfrm>
        </p:grpSpPr>
        <p:sp>
          <p:nvSpPr>
            <p:cNvPr name="Freeform 8" id="8"/>
            <p:cNvSpPr/>
            <p:nvPr/>
          </p:nvSpPr>
          <p:spPr>
            <a:xfrm flipH="false" flipV="false" rot="0">
              <a:off x="0" y="0"/>
              <a:ext cx="3786712" cy="555107"/>
            </a:xfrm>
            <a:custGeom>
              <a:avLst/>
              <a:gdLst/>
              <a:ahLst/>
              <a:cxnLst/>
              <a:rect r="r" b="b" t="t" l="l"/>
              <a:pathLst>
                <a:path h="555107" w="3786712">
                  <a:moveTo>
                    <a:pt x="0" y="0"/>
                  </a:moveTo>
                  <a:lnTo>
                    <a:pt x="3786712" y="0"/>
                  </a:lnTo>
                  <a:lnTo>
                    <a:pt x="3786712" y="555107"/>
                  </a:lnTo>
                  <a:lnTo>
                    <a:pt x="0" y="555107"/>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59320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2161887" y="4453270"/>
            <a:ext cx="7315200" cy="1646175"/>
          </a:xfrm>
          <a:custGeom>
            <a:avLst/>
            <a:gdLst/>
            <a:ahLst/>
            <a:cxnLst/>
            <a:rect r="r" b="b" t="t" l="l"/>
            <a:pathLst>
              <a:path h="1646175" w="7315200">
                <a:moveTo>
                  <a:pt x="0" y="0"/>
                </a:moveTo>
                <a:lnTo>
                  <a:pt x="7315200" y="0"/>
                </a:lnTo>
                <a:lnTo>
                  <a:pt x="7315200" y="1646175"/>
                </a:lnTo>
                <a:lnTo>
                  <a:pt x="0" y="1646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graphicFrame>
        <p:nvGraphicFramePr>
          <p:cNvPr name="Table 12" id="12"/>
          <p:cNvGraphicFramePr>
            <a:graphicFrameLocks noGrp="true"/>
          </p:cNvGraphicFramePr>
          <p:nvPr/>
        </p:nvGraphicFramePr>
        <p:xfrm>
          <a:off x="3210295" y="3974987"/>
          <a:ext cx="13748913" cy="4958971"/>
        </p:xfrm>
        <a:graphic>
          <a:graphicData uri="http://schemas.openxmlformats.org/drawingml/2006/table">
            <a:tbl>
              <a:tblPr/>
              <a:tblGrid>
                <a:gridCol w="977893"/>
                <a:gridCol w="3845486"/>
                <a:gridCol w="8925534"/>
              </a:tblGrid>
              <a:tr h="826495">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26495">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26495">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26495">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26495">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26495">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3" id="13"/>
          <p:cNvSpPr txBox="true"/>
          <p:nvPr/>
        </p:nvSpPr>
        <p:spPr>
          <a:xfrm rot="0">
            <a:off x="3397952" y="1723268"/>
            <a:ext cx="13367135" cy="1708151"/>
          </a:xfrm>
          <a:prstGeom prst="rect">
            <a:avLst/>
          </a:prstGeom>
        </p:spPr>
        <p:txBody>
          <a:bodyPr anchor="t" rtlCol="false" tIns="0" lIns="0" bIns="0" rIns="0">
            <a:spAutoFit/>
          </a:bodyPr>
          <a:lstStyle/>
          <a:p>
            <a:pPr algn="ctr">
              <a:lnSpc>
                <a:spcPts val="13999"/>
              </a:lnSpc>
            </a:pPr>
            <a:r>
              <a:rPr lang="en-US" sz="9999">
                <a:solidFill>
                  <a:srgbClr val="E6D8B5"/>
                </a:solidFill>
                <a:latin typeface="EFCO Brookshire"/>
                <a:ea typeface="EFCO Brookshire"/>
                <a:cs typeface="EFCO Brookshire"/>
                <a:sym typeface="EFCO Brookshire"/>
              </a:rPr>
              <a:t>Key Features of System </a:t>
            </a:r>
          </a:p>
        </p:txBody>
      </p:sp>
      <p:sp>
        <p:nvSpPr>
          <p:cNvPr name="TextBox 14" id="14"/>
          <p:cNvSpPr txBox="true"/>
          <p:nvPr/>
        </p:nvSpPr>
        <p:spPr>
          <a:xfrm rot="0">
            <a:off x="3210295" y="4690683"/>
            <a:ext cx="968541" cy="854149"/>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01</a:t>
            </a:r>
          </a:p>
        </p:txBody>
      </p:sp>
      <p:sp>
        <p:nvSpPr>
          <p:cNvPr name="TextBox 15" id="15"/>
          <p:cNvSpPr txBox="true"/>
          <p:nvPr/>
        </p:nvSpPr>
        <p:spPr>
          <a:xfrm rot="0">
            <a:off x="3210295" y="5544833"/>
            <a:ext cx="968541" cy="854149"/>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02</a:t>
            </a:r>
          </a:p>
        </p:txBody>
      </p:sp>
      <p:sp>
        <p:nvSpPr>
          <p:cNvPr name="TextBox 16" id="16"/>
          <p:cNvSpPr txBox="true"/>
          <p:nvPr/>
        </p:nvSpPr>
        <p:spPr>
          <a:xfrm rot="0">
            <a:off x="3210295" y="6359222"/>
            <a:ext cx="968541" cy="854149"/>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03</a:t>
            </a:r>
          </a:p>
        </p:txBody>
      </p:sp>
      <p:sp>
        <p:nvSpPr>
          <p:cNvPr name="TextBox 17" id="17"/>
          <p:cNvSpPr txBox="true"/>
          <p:nvPr/>
        </p:nvSpPr>
        <p:spPr>
          <a:xfrm rot="0">
            <a:off x="3210295" y="7215123"/>
            <a:ext cx="968541" cy="854149"/>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04</a:t>
            </a:r>
          </a:p>
        </p:txBody>
      </p:sp>
      <p:sp>
        <p:nvSpPr>
          <p:cNvPr name="TextBox 18" id="18"/>
          <p:cNvSpPr txBox="true"/>
          <p:nvPr/>
        </p:nvSpPr>
        <p:spPr>
          <a:xfrm rot="0">
            <a:off x="4520515" y="4969183"/>
            <a:ext cx="3281020" cy="422275"/>
          </a:xfrm>
          <a:prstGeom prst="rect">
            <a:avLst/>
          </a:prstGeom>
        </p:spPr>
        <p:txBody>
          <a:bodyPr anchor="t" rtlCol="false" tIns="0" lIns="0" bIns="0" rIns="0">
            <a:spAutoFit/>
          </a:bodyPr>
          <a:lstStyle/>
          <a:p>
            <a:pPr algn="l">
              <a:lnSpc>
                <a:spcPts val="3499"/>
              </a:lnSpc>
            </a:pPr>
            <a:r>
              <a:rPr lang="en-US" sz="2499" b="true">
                <a:solidFill>
                  <a:srgbClr val="E6D8B5"/>
                </a:solidFill>
                <a:latin typeface="Ibarra Real Nova Bold"/>
                <a:ea typeface="Ibarra Real Nova Bold"/>
                <a:cs typeface="Ibarra Real Nova Bold"/>
                <a:sym typeface="Ibarra Real Nova Bold"/>
              </a:rPr>
              <a:t>Floor Request Queue</a:t>
            </a:r>
          </a:p>
        </p:txBody>
      </p:sp>
      <p:sp>
        <p:nvSpPr>
          <p:cNvPr name="TextBox 19" id="19"/>
          <p:cNvSpPr txBox="true"/>
          <p:nvPr/>
        </p:nvSpPr>
        <p:spPr>
          <a:xfrm rot="0">
            <a:off x="5150545" y="4012179"/>
            <a:ext cx="3993455" cy="563881"/>
          </a:xfrm>
          <a:prstGeom prst="rect">
            <a:avLst/>
          </a:prstGeom>
        </p:spPr>
        <p:txBody>
          <a:bodyPr anchor="t" rtlCol="false" tIns="0" lIns="0" bIns="0" rIns="0">
            <a:spAutoFit/>
          </a:bodyPr>
          <a:lstStyle/>
          <a:p>
            <a:pPr algn="l">
              <a:lnSpc>
                <a:spcPts val="4619"/>
              </a:lnSpc>
            </a:pPr>
            <a:r>
              <a:rPr lang="en-US" sz="3299">
                <a:solidFill>
                  <a:srgbClr val="E6D8B5"/>
                </a:solidFill>
                <a:latin typeface="Ibarra Real Nova"/>
                <a:ea typeface="Ibarra Real Nova"/>
                <a:cs typeface="Ibarra Real Nova"/>
                <a:sym typeface="Ibarra Real Nova"/>
              </a:rPr>
              <a:t>Features</a:t>
            </a:r>
          </a:p>
        </p:txBody>
      </p:sp>
      <p:sp>
        <p:nvSpPr>
          <p:cNvPr name="TextBox 20" id="20"/>
          <p:cNvSpPr txBox="true"/>
          <p:nvPr/>
        </p:nvSpPr>
        <p:spPr>
          <a:xfrm rot="0">
            <a:off x="3210295" y="7974022"/>
            <a:ext cx="968541" cy="854075"/>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05</a:t>
            </a:r>
          </a:p>
        </p:txBody>
      </p:sp>
      <p:sp>
        <p:nvSpPr>
          <p:cNvPr name="TextBox 21" id="21"/>
          <p:cNvSpPr txBox="true"/>
          <p:nvPr/>
        </p:nvSpPr>
        <p:spPr>
          <a:xfrm rot="0">
            <a:off x="10746880" y="4012179"/>
            <a:ext cx="3993455" cy="563881"/>
          </a:xfrm>
          <a:prstGeom prst="rect">
            <a:avLst/>
          </a:prstGeom>
        </p:spPr>
        <p:txBody>
          <a:bodyPr anchor="t" rtlCol="false" tIns="0" lIns="0" bIns="0" rIns="0">
            <a:spAutoFit/>
          </a:bodyPr>
          <a:lstStyle/>
          <a:p>
            <a:pPr algn="l">
              <a:lnSpc>
                <a:spcPts val="4619"/>
              </a:lnSpc>
            </a:pPr>
            <a:r>
              <a:rPr lang="en-US" sz="3299">
                <a:solidFill>
                  <a:srgbClr val="E6D8B5"/>
                </a:solidFill>
                <a:latin typeface="Ibarra Real Nova"/>
                <a:ea typeface="Ibarra Real Nova"/>
                <a:cs typeface="Ibarra Real Nova"/>
                <a:sym typeface="Ibarra Real Nova"/>
              </a:rPr>
              <a:t>Description</a:t>
            </a:r>
          </a:p>
        </p:txBody>
      </p:sp>
      <p:sp>
        <p:nvSpPr>
          <p:cNvPr name="TextBox 22" id="22"/>
          <p:cNvSpPr txBox="true"/>
          <p:nvPr/>
        </p:nvSpPr>
        <p:spPr>
          <a:xfrm rot="0">
            <a:off x="4520515" y="5784582"/>
            <a:ext cx="3281020" cy="422275"/>
          </a:xfrm>
          <a:prstGeom prst="rect">
            <a:avLst/>
          </a:prstGeom>
        </p:spPr>
        <p:txBody>
          <a:bodyPr anchor="t" rtlCol="false" tIns="0" lIns="0" bIns="0" rIns="0">
            <a:spAutoFit/>
          </a:bodyPr>
          <a:lstStyle/>
          <a:p>
            <a:pPr algn="l">
              <a:lnSpc>
                <a:spcPts val="3499"/>
              </a:lnSpc>
            </a:pPr>
            <a:r>
              <a:rPr lang="en-US" sz="2499" b="true">
                <a:solidFill>
                  <a:srgbClr val="E6D8B5"/>
                </a:solidFill>
                <a:latin typeface="Ibarra Real Nova Bold"/>
                <a:ea typeface="Ibarra Real Nova Bold"/>
                <a:cs typeface="Ibarra Real Nova Bold"/>
                <a:sym typeface="Ibarra Real Nova Bold"/>
              </a:rPr>
              <a:t>VIP Express</a:t>
            </a:r>
          </a:p>
        </p:txBody>
      </p:sp>
      <p:sp>
        <p:nvSpPr>
          <p:cNvPr name="TextBox 23" id="23"/>
          <p:cNvSpPr txBox="true"/>
          <p:nvPr/>
        </p:nvSpPr>
        <p:spPr>
          <a:xfrm rot="0">
            <a:off x="4520515" y="6569127"/>
            <a:ext cx="3622699" cy="405765"/>
          </a:xfrm>
          <a:prstGeom prst="rect">
            <a:avLst/>
          </a:prstGeom>
        </p:spPr>
        <p:txBody>
          <a:bodyPr anchor="t" rtlCol="false" tIns="0" lIns="0" bIns="0" rIns="0">
            <a:spAutoFit/>
          </a:bodyPr>
          <a:lstStyle/>
          <a:p>
            <a:pPr algn="l">
              <a:lnSpc>
                <a:spcPts val="3359"/>
              </a:lnSpc>
            </a:pPr>
            <a:r>
              <a:rPr lang="en-US" sz="2400" b="true">
                <a:solidFill>
                  <a:srgbClr val="E6D8B5"/>
                </a:solidFill>
                <a:latin typeface="Ibarra Real Nova Bold"/>
                <a:ea typeface="Ibarra Real Nova Bold"/>
                <a:cs typeface="Ibarra Real Nova Bold"/>
                <a:sym typeface="Ibarra Real Nova Bold"/>
              </a:rPr>
              <a:t>Card Scan Authentication</a:t>
            </a:r>
          </a:p>
        </p:txBody>
      </p:sp>
      <p:sp>
        <p:nvSpPr>
          <p:cNvPr name="TextBox 24" id="24"/>
          <p:cNvSpPr txBox="true"/>
          <p:nvPr/>
        </p:nvSpPr>
        <p:spPr>
          <a:xfrm rot="0">
            <a:off x="4520515" y="7413042"/>
            <a:ext cx="4270483" cy="422275"/>
          </a:xfrm>
          <a:prstGeom prst="rect">
            <a:avLst/>
          </a:prstGeom>
        </p:spPr>
        <p:txBody>
          <a:bodyPr anchor="t" rtlCol="false" tIns="0" lIns="0" bIns="0" rIns="0">
            <a:spAutoFit/>
          </a:bodyPr>
          <a:lstStyle/>
          <a:p>
            <a:pPr algn="l">
              <a:lnSpc>
                <a:spcPts val="3499"/>
              </a:lnSpc>
            </a:pPr>
            <a:r>
              <a:rPr lang="en-US" sz="2499" b="true">
                <a:solidFill>
                  <a:srgbClr val="E6D8B5"/>
                </a:solidFill>
                <a:latin typeface="Ibarra Real Nova Bold"/>
                <a:ea typeface="Ibarra Real Nova Bold"/>
                <a:cs typeface="Ibarra Real Nova Bold"/>
                <a:sym typeface="Ibarra Real Nova Bold"/>
              </a:rPr>
              <a:t>Emergency Alarm Mode</a:t>
            </a:r>
          </a:p>
        </p:txBody>
      </p:sp>
      <p:sp>
        <p:nvSpPr>
          <p:cNvPr name="TextBox 25" id="25"/>
          <p:cNvSpPr txBox="true"/>
          <p:nvPr/>
        </p:nvSpPr>
        <p:spPr>
          <a:xfrm rot="0">
            <a:off x="4520515" y="8392505"/>
            <a:ext cx="3741632" cy="405765"/>
          </a:xfrm>
          <a:prstGeom prst="rect">
            <a:avLst/>
          </a:prstGeom>
        </p:spPr>
        <p:txBody>
          <a:bodyPr anchor="t" rtlCol="false" tIns="0" lIns="0" bIns="0" rIns="0">
            <a:spAutoFit/>
          </a:bodyPr>
          <a:lstStyle/>
          <a:p>
            <a:pPr algn="l">
              <a:lnSpc>
                <a:spcPts val="3359"/>
              </a:lnSpc>
            </a:pPr>
            <a:r>
              <a:rPr lang="en-US" sz="2400" b="true">
                <a:solidFill>
                  <a:srgbClr val="E6D8B5"/>
                </a:solidFill>
                <a:latin typeface="Ibarra Real Nova Bold"/>
                <a:ea typeface="Ibarra Real Nova Bold"/>
                <a:cs typeface="Ibarra Real Nova Bold"/>
                <a:sym typeface="Ibarra Real Nova Bold"/>
              </a:rPr>
              <a:t>Passenger Capacity Limit</a:t>
            </a:r>
          </a:p>
        </p:txBody>
      </p:sp>
      <p:sp>
        <p:nvSpPr>
          <p:cNvPr name="TextBox 26" id="26"/>
          <p:cNvSpPr txBox="true"/>
          <p:nvPr/>
        </p:nvSpPr>
        <p:spPr>
          <a:xfrm rot="0">
            <a:off x="8262147" y="4957497"/>
            <a:ext cx="9363736" cy="405765"/>
          </a:xfrm>
          <a:prstGeom prst="rect">
            <a:avLst/>
          </a:prstGeom>
        </p:spPr>
        <p:txBody>
          <a:bodyPr anchor="t" rtlCol="false" tIns="0" lIns="0" bIns="0" rIns="0">
            <a:spAutoFit/>
          </a:bodyPr>
          <a:lstStyle/>
          <a:p>
            <a:pPr algn="l">
              <a:lnSpc>
                <a:spcPts val="3359"/>
              </a:lnSpc>
            </a:pPr>
            <a:r>
              <a:rPr lang="en-US" sz="2400" b="true">
                <a:solidFill>
                  <a:srgbClr val="E6D8B5"/>
                </a:solidFill>
                <a:latin typeface="Ibarra Real Nova Bold"/>
                <a:ea typeface="Ibarra Real Nova Bold"/>
                <a:cs typeface="Ibarra Real Nova Bold"/>
                <a:sym typeface="Ibarra Real Nova Bold"/>
              </a:rPr>
              <a:t>Stores passengers, requests, processes highest priority first</a:t>
            </a:r>
          </a:p>
        </p:txBody>
      </p:sp>
      <p:sp>
        <p:nvSpPr>
          <p:cNvPr name="TextBox 27" id="27"/>
          <p:cNvSpPr txBox="true"/>
          <p:nvPr/>
        </p:nvSpPr>
        <p:spPr>
          <a:xfrm rot="0">
            <a:off x="8262147" y="5801412"/>
            <a:ext cx="6232348" cy="405765"/>
          </a:xfrm>
          <a:prstGeom prst="rect">
            <a:avLst/>
          </a:prstGeom>
        </p:spPr>
        <p:txBody>
          <a:bodyPr anchor="t" rtlCol="false" tIns="0" lIns="0" bIns="0" rIns="0">
            <a:spAutoFit/>
          </a:bodyPr>
          <a:lstStyle/>
          <a:p>
            <a:pPr algn="l">
              <a:lnSpc>
                <a:spcPts val="3359"/>
              </a:lnSpc>
            </a:pPr>
            <a:r>
              <a:rPr lang="en-US" sz="2400" b="true">
                <a:solidFill>
                  <a:srgbClr val="E6D8B5"/>
                </a:solidFill>
                <a:latin typeface="Ibarra Real Nova Bold"/>
                <a:ea typeface="Ibarra Real Nova Bold"/>
                <a:cs typeface="Ibarra Real Nova Bold"/>
                <a:sym typeface="Ibarra Real Nova Bold"/>
              </a:rPr>
              <a:t>moves directly to floor 9</a:t>
            </a:r>
          </a:p>
        </p:txBody>
      </p:sp>
      <p:sp>
        <p:nvSpPr>
          <p:cNvPr name="TextBox 28" id="28"/>
          <p:cNvSpPr txBox="true"/>
          <p:nvPr/>
        </p:nvSpPr>
        <p:spPr>
          <a:xfrm rot="0">
            <a:off x="8262147" y="6607227"/>
            <a:ext cx="6232348" cy="405765"/>
          </a:xfrm>
          <a:prstGeom prst="rect">
            <a:avLst/>
          </a:prstGeom>
        </p:spPr>
        <p:txBody>
          <a:bodyPr anchor="t" rtlCol="false" tIns="0" lIns="0" bIns="0" rIns="0">
            <a:spAutoFit/>
          </a:bodyPr>
          <a:lstStyle/>
          <a:p>
            <a:pPr algn="l">
              <a:lnSpc>
                <a:spcPts val="3359"/>
              </a:lnSpc>
            </a:pPr>
            <a:r>
              <a:rPr lang="en-US" sz="2400" b="true">
                <a:solidFill>
                  <a:srgbClr val="E6D8B5"/>
                </a:solidFill>
                <a:latin typeface="Ibarra Real Nova Bold"/>
                <a:ea typeface="Ibarra Real Nova Bold"/>
                <a:cs typeface="Ibarra Real Nova Bold"/>
                <a:sym typeface="Ibarra Real Nova Bold"/>
              </a:rPr>
              <a:t>scan VIP mode , VIP card IDs</a:t>
            </a:r>
          </a:p>
        </p:txBody>
      </p:sp>
      <p:sp>
        <p:nvSpPr>
          <p:cNvPr name="TextBox 29" id="29"/>
          <p:cNvSpPr txBox="true"/>
          <p:nvPr/>
        </p:nvSpPr>
        <p:spPr>
          <a:xfrm rot="0">
            <a:off x="8262147" y="7463127"/>
            <a:ext cx="8757184" cy="405765"/>
          </a:xfrm>
          <a:prstGeom prst="rect">
            <a:avLst/>
          </a:prstGeom>
        </p:spPr>
        <p:txBody>
          <a:bodyPr anchor="t" rtlCol="false" tIns="0" lIns="0" bIns="0" rIns="0">
            <a:spAutoFit/>
          </a:bodyPr>
          <a:lstStyle/>
          <a:p>
            <a:pPr algn="l">
              <a:lnSpc>
                <a:spcPts val="3359"/>
              </a:lnSpc>
            </a:pPr>
            <a:r>
              <a:rPr lang="en-US" sz="2400" b="true">
                <a:solidFill>
                  <a:srgbClr val="E6D8B5"/>
                </a:solidFill>
                <a:latin typeface="Ibarra Real Nova Bold"/>
                <a:ea typeface="Ibarra Real Nova Bold"/>
                <a:cs typeface="Ibarra Real Nova Bold"/>
                <a:sym typeface="Ibarra Real Nova Bold"/>
              </a:rPr>
              <a:t>the alarm requests the cabin to stop the current request</a:t>
            </a:r>
          </a:p>
        </p:txBody>
      </p:sp>
      <p:sp>
        <p:nvSpPr>
          <p:cNvPr name="TextBox 30" id="30"/>
          <p:cNvSpPr txBox="true"/>
          <p:nvPr/>
        </p:nvSpPr>
        <p:spPr>
          <a:xfrm rot="0">
            <a:off x="8262147" y="8268942"/>
            <a:ext cx="6232348" cy="405765"/>
          </a:xfrm>
          <a:prstGeom prst="rect">
            <a:avLst/>
          </a:prstGeom>
        </p:spPr>
        <p:txBody>
          <a:bodyPr anchor="t" rtlCol="false" tIns="0" lIns="0" bIns="0" rIns="0">
            <a:spAutoFit/>
          </a:bodyPr>
          <a:lstStyle/>
          <a:p>
            <a:pPr algn="l">
              <a:lnSpc>
                <a:spcPts val="3359"/>
              </a:lnSpc>
            </a:pPr>
            <a:r>
              <a:rPr lang="en-US" sz="2400" b="true">
                <a:solidFill>
                  <a:srgbClr val="E6D8B5"/>
                </a:solidFill>
                <a:latin typeface="Ibarra Real Nova Bold"/>
                <a:ea typeface="Ibarra Real Nova Bold"/>
                <a:cs typeface="Ibarra Real Nova Bold"/>
                <a:sym typeface="Ibarra Real Nova Bold"/>
              </a:rPr>
              <a:t>rejects entry when full of 8</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677440" y="8828263"/>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3483089"/>
            <a:ext cx="14616507" cy="6371379"/>
            <a:chOff x="0" y="0"/>
            <a:chExt cx="3849615" cy="1678059"/>
          </a:xfrm>
        </p:grpSpPr>
        <p:sp>
          <p:nvSpPr>
            <p:cNvPr name="Freeform 5" id="5"/>
            <p:cNvSpPr/>
            <p:nvPr/>
          </p:nvSpPr>
          <p:spPr>
            <a:xfrm flipH="false" flipV="false" rot="0">
              <a:off x="0" y="0"/>
              <a:ext cx="3849615" cy="1678059"/>
            </a:xfrm>
            <a:custGeom>
              <a:avLst/>
              <a:gdLst/>
              <a:ahLst/>
              <a:cxnLst/>
              <a:rect r="r" b="b" t="t" l="l"/>
              <a:pathLst>
                <a:path h="1678059" w="3849615">
                  <a:moveTo>
                    <a:pt x="0" y="0"/>
                  </a:moveTo>
                  <a:lnTo>
                    <a:pt x="3849615" y="0"/>
                  </a:lnTo>
                  <a:lnTo>
                    <a:pt x="3849615" y="1678059"/>
                  </a:lnTo>
                  <a:lnTo>
                    <a:pt x="0" y="1678059"/>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849615" cy="1716159"/>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618758"/>
            <a:ext cx="14616507" cy="1965050"/>
            <a:chOff x="0" y="0"/>
            <a:chExt cx="3849615" cy="517544"/>
          </a:xfrm>
        </p:grpSpPr>
        <p:sp>
          <p:nvSpPr>
            <p:cNvPr name="Freeform 8" id="8"/>
            <p:cNvSpPr/>
            <p:nvPr/>
          </p:nvSpPr>
          <p:spPr>
            <a:xfrm flipH="false" flipV="false" rot="0">
              <a:off x="0" y="0"/>
              <a:ext cx="3849615" cy="517544"/>
            </a:xfrm>
            <a:custGeom>
              <a:avLst/>
              <a:gdLst/>
              <a:ahLst/>
              <a:cxnLst/>
              <a:rect r="r" b="b" t="t" l="l"/>
              <a:pathLst>
                <a:path h="517544" w="3849615">
                  <a:moveTo>
                    <a:pt x="0" y="0"/>
                  </a:moveTo>
                  <a:lnTo>
                    <a:pt x="3849615" y="0"/>
                  </a:lnTo>
                  <a:lnTo>
                    <a:pt x="3849615" y="517544"/>
                  </a:lnTo>
                  <a:lnTo>
                    <a:pt x="0" y="517544"/>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849615" cy="555644"/>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3238587" y="5886045"/>
            <a:ext cx="9565302" cy="1030727"/>
          </a:xfrm>
          <a:custGeom>
            <a:avLst/>
            <a:gdLst/>
            <a:ahLst/>
            <a:cxnLst/>
            <a:rect r="r" b="b" t="t" l="l"/>
            <a:pathLst>
              <a:path h="1030727" w="9565302">
                <a:moveTo>
                  <a:pt x="0" y="0"/>
                </a:moveTo>
                <a:lnTo>
                  <a:pt x="9565302" y="0"/>
                </a:lnTo>
                <a:lnTo>
                  <a:pt x="9565302" y="1030727"/>
                </a:lnTo>
                <a:lnTo>
                  <a:pt x="0" y="10307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Freeform 12" id="12"/>
          <p:cNvSpPr/>
          <p:nvPr/>
        </p:nvSpPr>
        <p:spPr>
          <a:xfrm flipH="false" flipV="false" rot="0">
            <a:off x="3309233" y="3982984"/>
            <a:ext cx="13795417" cy="5371590"/>
          </a:xfrm>
          <a:custGeom>
            <a:avLst/>
            <a:gdLst/>
            <a:ahLst/>
            <a:cxnLst/>
            <a:rect r="r" b="b" t="t" l="l"/>
            <a:pathLst>
              <a:path h="5371590" w="13795417">
                <a:moveTo>
                  <a:pt x="0" y="0"/>
                </a:moveTo>
                <a:lnTo>
                  <a:pt x="13795417" y="0"/>
                </a:lnTo>
                <a:lnTo>
                  <a:pt x="13795417" y="5371590"/>
                </a:lnTo>
                <a:lnTo>
                  <a:pt x="0" y="5371590"/>
                </a:lnTo>
                <a:lnTo>
                  <a:pt x="0" y="0"/>
                </a:lnTo>
                <a:close/>
              </a:path>
            </a:pathLst>
          </a:custGeom>
          <a:blipFill>
            <a:blip r:embed="rId7"/>
            <a:stretch>
              <a:fillRect l="0" t="0" r="0" b="0"/>
            </a:stretch>
          </a:blipFill>
        </p:spPr>
      </p:sp>
      <p:sp>
        <p:nvSpPr>
          <p:cNvPr name="TextBox 13" id="13"/>
          <p:cNvSpPr txBox="true"/>
          <p:nvPr/>
        </p:nvSpPr>
        <p:spPr>
          <a:xfrm rot="0">
            <a:off x="2595165" y="1740543"/>
            <a:ext cx="15223554" cy="1550030"/>
          </a:xfrm>
          <a:prstGeom prst="rect">
            <a:avLst/>
          </a:prstGeom>
        </p:spPr>
        <p:txBody>
          <a:bodyPr anchor="t" rtlCol="false" tIns="0" lIns="0" bIns="0" rIns="0">
            <a:spAutoFit/>
          </a:bodyPr>
          <a:lstStyle/>
          <a:p>
            <a:pPr algn="ctr">
              <a:lnSpc>
                <a:spcPts val="12740"/>
              </a:lnSpc>
            </a:pPr>
            <a:r>
              <a:rPr lang="en-US" sz="9100">
                <a:solidFill>
                  <a:srgbClr val="E6D8B5"/>
                </a:solidFill>
                <a:latin typeface="EFCO Brookshire"/>
                <a:ea typeface="EFCO Brookshire"/>
                <a:cs typeface="EFCO Brookshire"/>
                <a:sym typeface="EFCO Brookshire"/>
              </a:rPr>
              <a:t>How It Works </a:t>
            </a:r>
          </a:p>
        </p:txBody>
      </p:sp>
      <p:sp>
        <p:nvSpPr>
          <p:cNvPr name="TextBox 14" id="14"/>
          <p:cNvSpPr txBox="true"/>
          <p:nvPr/>
        </p:nvSpPr>
        <p:spPr>
          <a:xfrm rot="0">
            <a:off x="4218158" y="4174778"/>
            <a:ext cx="5804284"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1B263B"/>
                </a:solidFill>
                <a:latin typeface="Ibarra Real Nova"/>
                <a:ea typeface="Ibarra Real Nova"/>
                <a:cs typeface="Ibarra Real Nova"/>
                <a:sym typeface="Ibarra Real Nova"/>
              </a:rPr>
              <a:t>flowchart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379104" y="9055304"/>
            <a:ext cx="6540381" cy="772954"/>
          </a:xfrm>
          <a:custGeom>
            <a:avLst/>
            <a:gdLst/>
            <a:ahLst/>
            <a:cxnLst/>
            <a:rect r="r" b="b" t="t" l="l"/>
            <a:pathLst>
              <a:path h="772954" w="6540381">
                <a:moveTo>
                  <a:pt x="0" y="0"/>
                </a:moveTo>
                <a:lnTo>
                  <a:pt x="6540382" y="0"/>
                </a:lnTo>
                <a:lnTo>
                  <a:pt x="6540382" y="772955"/>
                </a:lnTo>
                <a:lnTo>
                  <a:pt x="0" y="7729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298401" y="9061254"/>
            <a:ext cx="6490040" cy="767005"/>
          </a:xfrm>
          <a:custGeom>
            <a:avLst/>
            <a:gdLst/>
            <a:ahLst/>
            <a:cxnLst/>
            <a:rect r="r" b="b" t="t" l="l"/>
            <a:pathLst>
              <a:path h="767005" w="6490040">
                <a:moveTo>
                  <a:pt x="6490040" y="0"/>
                </a:moveTo>
                <a:lnTo>
                  <a:pt x="0" y="0"/>
                </a:lnTo>
                <a:lnTo>
                  <a:pt x="0" y="767005"/>
                </a:lnTo>
                <a:lnTo>
                  <a:pt x="6490040" y="767005"/>
                </a:lnTo>
                <a:lnTo>
                  <a:pt x="649004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238587" y="5886045"/>
            <a:ext cx="9565302" cy="1030727"/>
          </a:xfrm>
          <a:custGeom>
            <a:avLst/>
            <a:gdLst/>
            <a:ahLst/>
            <a:cxnLst/>
            <a:rect r="r" b="b" t="t" l="l"/>
            <a:pathLst>
              <a:path h="1030727" w="9565302">
                <a:moveTo>
                  <a:pt x="0" y="0"/>
                </a:moveTo>
                <a:lnTo>
                  <a:pt x="9565302" y="0"/>
                </a:lnTo>
                <a:lnTo>
                  <a:pt x="9565302" y="1030727"/>
                </a:lnTo>
                <a:lnTo>
                  <a:pt x="0" y="10307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Freeform 6" id="6"/>
          <p:cNvSpPr/>
          <p:nvPr/>
        </p:nvSpPr>
        <p:spPr>
          <a:xfrm flipH="false" flipV="false" rot="0">
            <a:off x="2379104" y="2006578"/>
            <a:ext cx="15409337" cy="6804395"/>
          </a:xfrm>
          <a:custGeom>
            <a:avLst/>
            <a:gdLst/>
            <a:ahLst/>
            <a:cxnLst/>
            <a:rect r="r" b="b" t="t" l="l"/>
            <a:pathLst>
              <a:path h="6804395" w="15409337">
                <a:moveTo>
                  <a:pt x="0" y="0"/>
                </a:moveTo>
                <a:lnTo>
                  <a:pt x="15409337" y="0"/>
                </a:lnTo>
                <a:lnTo>
                  <a:pt x="15409337" y="6804394"/>
                </a:lnTo>
                <a:lnTo>
                  <a:pt x="0" y="6804394"/>
                </a:lnTo>
                <a:lnTo>
                  <a:pt x="0" y="0"/>
                </a:lnTo>
                <a:close/>
              </a:path>
            </a:pathLst>
          </a:custGeom>
          <a:blipFill>
            <a:blip r:embed="rId7"/>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7325313" cy="865719"/>
          </a:xfrm>
          <a:custGeom>
            <a:avLst/>
            <a:gdLst/>
            <a:ahLst/>
            <a:cxnLst/>
            <a:rect r="r" b="b" t="t" l="l"/>
            <a:pathLst>
              <a:path h="865719" w="7325313">
                <a:moveTo>
                  <a:pt x="0" y="0"/>
                </a:moveTo>
                <a:lnTo>
                  <a:pt x="7325314" y="0"/>
                </a:lnTo>
                <a:lnTo>
                  <a:pt x="7325314" y="865719"/>
                </a:lnTo>
                <a:lnTo>
                  <a:pt x="0" y="8657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207957" y="8856729"/>
            <a:ext cx="7084444" cy="837252"/>
          </a:xfrm>
          <a:custGeom>
            <a:avLst/>
            <a:gdLst/>
            <a:ahLst/>
            <a:cxnLst/>
            <a:rect r="r" b="b" t="t" l="l"/>
            <a:pathLst>
              <a:path h="837252" w="7084444">
                <a:moveTo>
                  <a:pt x="7084444" y="0"/>
                </a:moveTo>
                <a:lnTo>
                  <a:pt x="0" y="0"/>
                </a:lnTo>
                <a:lnTo>
                  <a:pt x="0" y="837253"/>
                </a:lnTo>
                <a:lnTo>
                  <a:pt x="7084444" y="837253"/>
                </a:lnTo>
                <a:lnTo>
                  <a:pt x="7084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4377672" cy="7236435"/>
            <a:chOff x="0" y="0"/>
            <a:chExt cx="3786712" cy="1905892"/>
          </a:xfrm>
        </p:grpSpPr>
        <p:sp>
          <p:nvSpPr>
            <p:cNvPr name="Freeform 5" id="5"/>
            <p:cNvSpPr/>
            <p:nvPr/>
          </p:nvSpPr>
          <p:spPr>
            <a:xfrm flipH="false" flipV="false" rot="0">
              <a:off x="0" y="0"/>
              <a:ext cx="3786712" cy="1905892"/>
            </a:xfrm>
            <a:custGeom>
              <a:avLst/>
              <a:gdLst/>
              <a:ahLst/>
              <a:cxnLst/>
              <a:rect r="r" b="b" t="t" l="l"/>
              <a:pathLst>
                <a:path h="1905892" w="3786712">
                  <a:moveTo>
                    <a:pt x="0" y="0"/>
                  </a:moveTo>
                  <a:lnTo>
                    <a:pt x="3786712" y="0"/>
                  </a:lnTo>
                  <a:lnTo>
                    <a:pt x="3786712" y="1905892"/>
                  </a:lnTo>
                  <a:lnTo>
                    <a:pt x="0" y="1905892"/>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194399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618758"/>
            <a:ext cx="14377672" cy="2107671"/>
            <a:chOff x="0" y="0"/>
            <a:chExt cx="3786712" cy="555107"/>
          </a:xfrm>
        </p:grpSpPr>
        <p:sp>
          <p:nvSpPr>
            <p:cNvPr name="Freeform 8" id="8"/>
            <p:cNvSpPr/>
            <p:nvPr/>
          </p:nvSpPr>
          <p:spPr>
            <a:xfrm flipH="false" flipV="false" rot="0">
              <a:off x="0" y="0"/>
              <a:ext cx="3786712" cy="555107"/>
            </a:xfrm>
            <a:custGeom>
              <a:avLst/>
              <a:gdLst/>
              <a:ahLst/>
              <a:cxnLst/>
              <a:rect r="r" b="b" t="t" l="l"/>
              <a:pathLst>
                <a:path h="555107" w="3786712">
                  <a:moveTo>
                    <a:pt x="0" y="0"/>
                  </a:moveTo>
                  <a:lnTo>
                    <a:pt x="3786712" y="0"/>
                  </a:lnTo>
                  <a:lnTo>
                    <a:pt x="3786712" y="555107"/>
                  </a:lnTo>
                  <a:lnTo>
                    <a:pt x="0" y="555107"/>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59320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3238587" y="5886045"/>
            <a:ext cx="9565302" cy="1030727"/>
          </a:xfrm>
          <a:custGeom>
            <a:avLst/>
            <a:gdLst/>
            <a:ahLst/>
            <a:cxnLst/>
            <a:rect r="r" b="b" t="t" l="l"/>
            <a:pathLst>
              <a:path h="1030727" w="9565302">
                <a:moveTo>
                  <a:pt x="0" y="0"/>
                </a:moveTo>
                <a:lnTo>
                  <a:pt x="9565302" y="0"/>
                </a:lnTo>
                <a:lnTo>
                  <a:pt x="9565302" y="1030727"/>
                </a:lnTo>
                <a:lnTo>
                  <a:pt x="0" y="10307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595165" y="1811853"/>
            <a:ext cx="15223554" cy="1550030"/>
          </a:xfrm>
          <a:prstGeom prst="rect">
            <a:avLst/>
          </a:prstGeom>
        </p:spPr>
        <p:txBody>
          <a:bodyPr anchor="t" rtlCol="false" tIns="0" lIns="0" bIns="0" rIns="0">
            <a:spAutoFit/>
          </a:bodyPr>
          <a:lstStyle/>
          <a:p>
            <a:pPr algn="ctr">
              <a:lnSpc>
                <a:spcPts val="12740"/>
              </a:lnSpc>
            </a:pPr>
            <a:r>
              <a:rPr lang="en-US" sz="9100">
                <a:solidFill>
                  <a:srgbClr val="E6D8B5"/>
                </a:solidFill>
                <a:latin typeface="EFCO Brookshire"/>
                <a:ea typeface="EFCO Brookshire"/>
                <a:cs typeface="EFCO Brookshire"/>
                <a:sym typeface="EFCO Brookshire"/>
              </a:rPr>
              <a:t>Key achievements of our system </a:t>
            </a:r>
          </a:p>
        </p:txBody>
      </p:sp>
      <p:sp>
        <p:nvSpPr>
          <p:cNvPr name="TextBox 12" id="12"/>
          <p:cNvSpPr txBox="true"/>
          <p:nvPr/>
        </p:nvSpPr>
        <p:spPr>
          <a:xfrm rot="0">
            <a:off x="4073313" y="3741284"/>
            <a:ext cx="968541" cy="854075"/>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01</a:t>
            </a:r>
          </a:p>
        </p:txBody>
      </p:sp>
      <p:sp>
        <p:nvSpPr>
          <p:cNvPr name="TextBox 13" id="13"/>
          <p:cNvSpPr txBox="true"/>
          <p:nvPr/>
        </p:nvSpPr>
        <p:spPr>
          <a:xfrm rot="0">
            <a:off x="4073313" y="4720496"/>
            <a:ext cx="968541" cy="854149"/>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02</a:t>
            </a:r>
          </a:p>
        </p:txBody>
      </p:sp>
      <p:sp>
        <p:nvSpPr>
          <p:cNvPr name="TextBox 14" id="14"/>
          <p:cNvSpPr txBox="true"/>
          <p:nvPr/>
        </p:nvSpPr>
        <p:spPr>
          <a:xfrm rot="0">
            <a:off x="4073313" y="5698471"/>
            <a:ext cx="968541" cy="854149"/>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03</a:t>
            </a:r>
          </a:p>
        </p:txBody>
      </p:sp>
      <p:sp>
        <p:nvSpPr>
          <p:cNvPr name="TextBox 15" id="15"/>
          <p:cNvSpPr txBox="true"/>
          <p:nvPr/>
        </p:nvSpPr>
        <p:spPr>
          <a:xfrm rot="0">
            <a:off x="5422281" y="3946706"/>
            <a:ext cx="6981404" cy="504825"/>
          </a:xfrm>
          <a:prstGeom prst="rect">
            <a:avLst/>
          </a:prstGeom>
        </p:spPr>
        <p:txBody>
          <a:bodyPr anchor="t" rtlCol="false" tIns="0" lIns="0" bIns="0" rIns="0">
            <a:spAutoFit/>
          </a:bodyPr>
          <a:lstStyle/>
          <a:p>
            <a:pPr algn="l">
              <a:lnSpc>
                <a:spcPts val="4199"/>
              </a:lnSpc>
            </a:pPr>
            <a:r>
              <a:rPr lang="en-US" sz="2999">
                <a:solidFill>
                  <a:srgbClr val="E6D8B5"/>
                </a:solidFill>
                <a:latin typeface="Ibarra Real Nova"/>
                <a:ea typeface="Ibarra Real Nova"/>
                <a:cs typeface="Ibarra Real Nova"/>
                <a:sym typeface="Ibarra Real Nova"/>
              </a:rPr>
              <a:t>VIP Express Override work end to end</a:t>
            </a:r>
          </a:p>
        </p:txBody>
      </p:sp>
      <p:sp>
        <p:nvSpPr>
          <p:cNvPr name="Freeform 16" id="16"/>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TextBox 17" id="17"/>
          <p:cNvSpPr txBox="true"/>
          <p:nvPr/>
        </p:nvSpPr>
        <p:spPr>
          <a:xfrm rot="0">
            <a:off x="4073313" y="6761808"/>
            <a:ext cx="968541" cy="854075"/>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04</a:t>
            </a:r>
          </a:p>
        </p:txBody>
      </p:sp>
      <p:sp>
        <p:nvSpPr>
          <p:cNvPr name="TextBox 18" id="18"/>
          <p:cNvSpPr txBox="true"/>
          <p:nvPr/>
        </p:nvSpPr>
        <p:spPr>
          <a:xfrm rot="0">
            <a:off x="4073313" y="7749308"/>
            <a:ext cx="968541" cy="854075"/>
          </a:xfrm>
          <a:prstGeom prst="rect">
            <a:avLst/>
          </a:prstGeom>
        </p:spPr>
        <p:txBody>
          <a:bodyPr anchor="t" rtlCol="false" tIns="0" lIns="0" bIns="0" rIns="0">
            <a:spAutoFit/>
          </a:bodyPr>
          <a:lstStyle/>
          <a:p>
            <a:pPr algn="ctr">
              <a:lnSpc>
                <a:spcPts val="7000"/>
              </a:lnSpc>
            </a:pPr>
            <a:r>
              <a:rPr lang="en-US" sz="5000">
                <a:solidFill>
                  <a:srgbClr val="E6D8B5"/>
                </a:solidFill>
                <a:latin typeface="EFCO Brookshire"/>
                <a:ea typeface="EFCO Brookshire"/>
                <a:cs typeface="EFCO Brookshire"/>
                <a:sym typeface="EFCO Brookshire"/>
              </a:rPr>
              <a:t>05</a:t>
            </a:r>
          </a:p>
        </p:txBody>
      </p:sp>
      <p:sp>
        <p:nvSpPr>
          <p:cNvPr name="TextBox 19" id="19"/>
          <p:cNvSpPr txBox="true"/>
          <p:nvPr/>
        </p:nvSpPr>
        <p:spPr>
          <a:xfrm rot="0">
            <a:off x="5422281" y="5900120"/>
            <a:ext cx="5804284" cy="504825"/>
          </a:xfrm>
          <a:prstGeom prst="rect">
            <a:avLst/>
          </a:prstGeom>
        </p:spPr>
        <p:txBody>
          <a:bodyPr anchor="t" rtlCol="false" tIns="0" lIns="0" bIns="0" rIns="0">
            <a:spAutoFit/>
          </a:bodyPr>
          <a:lstStyle/>
          <a:p>
            <a:pPr algn="l">
              <a:lnSpc>
                <a:spcPts val="4199"/>
              </a:lnSpc>
            </a:pPr>
            <a:r>
              <a:rPr lang="en-US" sz="2999">
                <a:solidFill>
                  <a:srgbClr val="E6D8B5"/>
                </a:solidFill>
                <a:latin typeface="Ibarra Real Nova"/>
                <a:ea typeface="Ibarra Real Nova"/>
                <a:cs typeface="Ibarra Real Nova"/>
                <a:sym typeface="Ibarra Real Nova"/>
              </a:rPr>
              <a:t>Emergency alarm response</a:t>
            </a:r>
          </a:p>
        </p:txBody>
      </p:sp>
      <p:sp>
        <p:nvSpPr>
          <p:cNvPr name="TextBox 20" id="20"/>
          <p:cNvSpPr txBox="true"/>
          <p:nvPr/>
        </p:nvSpPr>
        <p:spPr>
          <a:xfrm rot="0">
            <a:off x="5422281" y="6962475"/>
            <a:ext cx="5804284" cy="504825"/>
          </a:xfrm>
          <a:prstGeom prst="rect">
            <a:avLst/>
          </a:prstGeom>
        </p:spPr>
        <p:txBody>
          <a:bodyPr anchor="t" rtlCol="false" tIns="0" lIns="0" bIns="0" rIns="0">
            <a:spAutoFit/>
          </a:bodyPr>
          <a:lstStyle/>
          <a:p>
            <a:pPr algn="l">
              <a:lnSpc>
                <a:spcPts val="4199"/>
              </a:lnSpc>
            </a:pPr>
            <a:r>
              <a:rPr lang="en-US" sz="2999">
                <a:solidFill>
                  <a:srgbClr val="E6D8B5"/>
                </a:solidFill>
                <a:latin typeface="Ibarra Real Nova"/>
                <a:ea typeface="Ibarra Real Nova"/>
                <a:cs typeface="Ibarra Real Nova"/>
                <a:sym typeface="Ibarra Real Nova"/>
              </a:rPr>
              <a:t>Secure card-based access control</a:t>
            </a:r>
          </a:p>
        </p:txBody>
      </p:sp>
      <p:sp>
        <p:nvSpPr>
          <p:cNvPr name="TextBox 21" id="21"/>
          <p:cNvSpPr txBox="true"/>
          <p:nvPr/>
        </p:nvSpPr>
        <p:spPr>
          <a:xfrm rot="0">
            <a:off x="5422281" y="8024831"/>
            <a:ext cx="5804284" cy="504825"/>
          </a:xfrm>
          <a:prstGeom prst="rect">
            <a:avLst/>
          </a:prstGeom>
        </p:spPr>
        <p:txBody>
          <a:bodyPr anchor="t" rtlCol="false" tIns="0" lIns="0" bIns="0" rIns="0">
            <a:spAutoFit/>
          </a:bodyPr>
          <a:lstStyle/>
          <a:p>
            <a:pPr algn="l">
              <a:lnSpc>
                <a:spcPts val="4199"/>
              </a:lnSpc>
            </a:pPr>
            <a:r>
              <a:rPr lang="en-US" sz="2999">
                <a:solidFill>
                  <a:srgbClr val="E6D8B5"/>
                </a:solidFill>
                <a:latin typeface="Ibarra Real Nova"/>
                <a:ea typeface="Ibarra Real Nova"/>
                <a:cs typeface="Ibarra Real Nova"/>
                <a:sym typeface="Ibarra Real Nova"/>
              </a:rPr>
              <a:t>Passenger capacity enforcement</a:t>
            </a:r>
          </a:p>
        </p:txBody>
      </p:sp>
      <p:sp>
        <p:nvSpPr>
          <p:cNvPr name="TextBox 22" id="22"/>
          <p:cNvSpPr txBox="true"/>
          <p:nvPr/>
        </p:nvSpPr>
        <p:spPr>
          <a:xfrm rot="0">
            <a:off x="5422281" y="4923490"/>
            <a:ext cx="8004986" cy="504825"/>
          </a:xfrm>
          <a:prstGeom prst="rect">
            <a:avLst/>
          </a:prstGeom>
        </p:spPr>
        <p:txBody>
          <a:bodyPr anchor="t" rtlCol="false" tIns="0" lIns="0" bIns="0" rIns="0">
            <a:spAutoFit/>
          </a:bodyPr>
          <a:lstStyle/>
          <a:p>
            <a:pPr algn="l">
              <a:lnSpc>
                <a:spcPts val="4199"/>
              </a:lnSpc>
            </a:pPr>
            <a:r>
              <a:rPr lang="en-US" sz="2999">
                <a:solidFill>
                  <a:srgbClr val="E6D8B5"/>
                </a:solidFill>
                <a:latin typeface="Ibarra Real Nova"/>
                <a:ea typeface="Ibarra Real Nova"/>
                <a:cs typeface="Ibarra Real Nova"/>
                <a:sym typeface="Ibarra Real Nova"/>
              </a:rPr>
              <a:t>Priority Queue handles mixed requests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677440" y="8828263"/>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4377672" cy="8265135"/>
            <a:chOff x="0" y="0"/>
            <a:chExt cx="3786712" cy="2176826"/>
          </a:xfrm>
        </p:grpSpPr>
        <p:sp>
          <p:nvSpPr>
            <p:cNvPr name="Freeform 5" id="5"/>
            <p:cNvSpPr/>
            <p:nvPr/>
          </p:nvSpPr>
          <p:spPr>
            <a:xfrm flipH="false" flipV="false" rot="0">
              <a:off x="0" y="0"/>
              <a:ext cx="3786712" cy="2176826"/>
            </a:xfrm>
            <a:custGeom>
              <a:avLst/>
              <a:gdLst/>
              <a:ahLst/>
              <a:cxnLst/>
              <a:rect r="r" b="b" t="t" l="l"/>
              <a:pathLst>
                <a:path h="2176826" w="3786712">
                  <a:moveTo>
                    <a:pt x="0" y="0"/>
                  </a:moveTo>
                  <a:lnTo>
                    <a:pt x="3786712" y="0"/>
                  </a:lnTo>
                  <a:lnTo>
                    <a:pt x="3786712" y="2176826"/>
                  </a:lnTo>
                  <a:lnTo>
                    <a:pt x="0" y="2176826"/>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221492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2021865"/>
            <a:ext cx="2564768" cy="8265135"/>
            <a:chOff x="0" y="0"/>
            <a:chExt cx="675495" cy="2176826"/>
          </a:xfrm>
        </p:grpSpPr>
        <p:sp>
          <p:nvSpPr>
            <p:cNvPr name="Freeform 8" id="8"/>
            <p:cNvSpPr/>
            <p:nvPr/>
          </p:nvSpPr>
          <p:spPr>
            <a:xfrm flipH="false" flipV="false" rot="0">
              <a:off x="0" y="0"/>
              <a:ext cx="675495" cy="2176826"/>
            </a:xfrm>
            <a:custGeom>
              <a:avLst/>
              <a:gdLst/>
              <a:ahLst/>
              <a:cxnLst/>
              <a:rect r="r" b="b" t="t" l="l"/>
              <a:pathLst>
                <a:path h="2176826" w="675495">
                  <a:moveTo>
                    <a:pt x="0" y="0"/>
                  </a:moveTo>
                  <a:lnTo>
                    <a:pt x="675495" y="0"/>
                  </a:lnTo>
                  <a:lnTo>
                    <a:pt x="675495" y="2176826"/>
                  </a:lnTo>
                  <a:lnTo>
                    <a:pt x="0" y="2176826"/>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675495" cy="2214926"/>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2008350" y="5227744"/>
            <a:ext cx="7315200" cy="1646175"/>
          </a:xfrm>
          <a:custGeom>
            <a:avLst/>
            <a:gdLst/>
            <a:ahLst/>
            <a:cxnLst/>
            <a:rect r="r" b="b" t="t" l="l"/>
            <a:pathLst>
              <a:path h="1646175" w="7315200">
                <a:moveTo>
                  <a:pt x="0" y="0"/>
                </a:moveTo>
                <a:lnTo>
                  <a:pt x="7315200" y="0"/>
                </a:lnTo>
                <a:lnTo>
                  <a:pt x="7315200" y="1646175"/>
                </a:lnTo>
                <a:lnTo>
                  <a:pt x="0" y="1646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Freeform 12" id="12"/>
          <p:cNvSpPr/>
          <p:nvPr/>
        </p:nvSpPr>
        <p:spPr>
          <a:xfrm flipH="false" flipV="false" rot="0">
            <a:off x="7154420" y="2491657"/>
            <a:ext cx="8428679" cy="7432886"/>
          </a:xfrm>
          <a:custGeom>
            <a:avLst/>
            <a:gdLst/>
            <a:ahLst/>
            <a:cxnLst/>
            <a:rect r="r" b="b" t="t" l="l"/>
            <a:pathLst>
              <a:path h="7432886" w="8428679">
                <a:moveTo>
                  <a:pt x="0" y="0"/>
                </a:moveTo>
                <a:lnTo>
                  <a:pt x="8428679" y="0"/>
                </a:lnTo>
                <a:lnTo>
                  <a:pt x="8428679" y="7432886"/>
                </a:lnTo>
                <a:lnTo>
                  <a:pt x="0" y="7432886"/>
                </a:lnTo>
                <a:lnTo>
                  <a:pt x="0" y="0"/>
                </a:lnTo>
                <a:close/>
              </a:path>
            </a:pathLst>
          </a:custGeom>
          <a:blipFill>
            <a:blip r:embed="rId7"/>
            <a:stretch>
              <a:fillRect l="0" t="0" r="0" b="0"/>
            </a:stretch>
          </a:blipFill>
        </p:spPr>
      </p:sp>
      <p:sp>
        <p:nvSpPr>
          <p:cNvPr name="TextBox 13" id="13"/>
          <p:cNvSpPr txBox="true"/>
          <p:nvPr/>
        </p:nvSpPr>
        <p:spPr>
          <a:xfrm rot="0">
            <a:off x="3603497" y="2844082"/>
            <a:ext cx="939632" cy="6765925"/>
          </a:xfrm>
          <a:prstGeom prst="rect">
            <a:avLst/>
          </a:prstGeom>
        </p:spPr>
        <p:txBody>
          <a:bodyPr anchor="t" rtlCol="false" tIns="0" lIns="0" bIns="0" rIns="0">
            <a:spAutoFit/>
          </a:bodyPr>
          <a:lstStyle/>
          <a:p>
            <a:pPr algn="ctr">
              <a:lnSpc>
                <a:spcPts val="8299"/>
              </a:lnSpc>
            </a:pPr>
            <a:r>
              <a:rPr lang="en-US" sz="9999">
                <a:solidFill>
                  <a:srgbClr val="E6D8B5"/>
                </a:solidFill>
                <a:latin typeface="EFCO Brookshire"/>
                <a:ea typeface="EFCO Brookshire"/>
                <a:cs typeface="EFCO Brookshire"/>
                <a:sym typeface="EFCO Brookshire"/>
              </a:rPr>
              <a:t>Resul</a:t>
            </a:r>
          </a:p>
          <a:p>
            <a:pPr algn="ctr">
              <a:lnSpc>
                <a:spcPts val="13999"/>
              </a:lnSpc>
            </a:pPr>
            <a:r>
              <a:rPr lang="en-US" sz="9999">
                <a:solidFill>
                  <a:srgbClr val="E6D8B5"/>
                </a:solidFill>
                <a:latin typeface="EFCO Brookshire"/>
                <a:ea typeface="EFCO Brookshire"/>
                <a:cs typeface="EFCO Brookshire"/>
                <a:sym typeface="EFCO Brookshire"/>
              </a:rPr>
              <a:t>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677440" y="8828263"/>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4377672" cy="8265135"/>
            <a:chOff x="0" y="0"/>
            <a:chExt cx="3786712" cy="2176826"/>
          </a:xfrm>
        </p:grpSpPr>
        <p:sp>
          <p:nvSpPr>
            <p:cNvPr name="Freeform 5" id="5"/>
            <p:cNvSpPr/>
            <p:nvPr/>
          </p:nvSpPr>
          <p:spPr>
            <a:xfrm flipH="false" flipV="false" rot="0">
              <a:off x="0" y="0"/>
              <a:ext cx="3786712" cy="2176826"/>
            </a:xfrm>
            <a:custGeom>
              <a:avLst/>
              <a:gdLst/>
              <a:ahLst/>
              <a:cxnLst/>
              <a:rect r="r" b="b" t="t" l="l"/>
              <a:pathLst>
                <a:path h="2176826" w="3786712">
                  <a:moveTo>
                    <a:pt x="0" y="0"/>
                  </a:moveTo>
                  <a:lnTo>
                    <a:pt x="3786712" y="0"/>
                  </a:lnTo>
                  <a:lnTo>
                    <a:pt x="3786712" y="2176826"/>
                  </a:lnTo>
                  <a:lnTo>
                    <a:pt x="0" y="2176826"/>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221492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2021865"/>
            <a:ext cx="2564768" cy="8265135"/>
            <a:chOff x="0" y="0"/>
            <a:chExt cx="675495" cy="2176826"/>
          </a:xfrm>
        </p:grpSpPr>
        <p:sp>
          <p:nvSpPr>
            <p:cNvPr name="Freeform 8" id="8"/>
            <p:cNvSpPr/>
            <p:nvPr/>
          </p:nvSpPr>
          <p:spPr>
            <a:xfrm flipH="false" flipV="false" rot="0">
              <a:off x="0" y="0"/>
              <a:ext cx="675495" cy="2176826"/>
            </a:xfrm>
            <a:custGeom>
              <a:avLst/>
              <a:gdLst/>
              <a:ahLst/>
              <a:cxnLst/>
              <a:rect r="r" b="b" t="t" l="l"/>
              <a:pathLst>
                <a:path h="2176826" w="675495">
                  <a:moveTo>
                    <a:pt x="0" y="0"/>
                  </a:moveTo>
                  <a:lnTo>
                    <a:pt x="675495" y="0"/>
                  </a:lnTo>
                  <a:lnTo>
                    <a:pt x="675495" y="2176826"/>
                  </a:lnTo>
                  <a:lnTo>
                    <a:pt x="0" y="2176826"/>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675495" cy="2214926"/>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2059529" y="5227744"/>
            <a:ext cx="7315200" cy="1646175"/>
          </a:xfrm>
          <a:custGeom>
            <a:avLst/>
            <a:gdLst/>
            <a:ahLst/>
            <a:cxnLst/>
            <a:rect r="r" b="b" t="t" l="l"/>
            <a:pathLst>
              <a:path h="1646175" w="7315200">
                <a:moveTo>
                  <a:pt x="0" y="0"/>
                </a:moveTo>
                <a:lnTo>
                  <a:pt x="7315200" y="0"/>
                </a:lnTo>
                <a:lnTo>
                  <a:pt x="7315200" y="1646175"/>
                </a:lnTo>
                <a:lnTo>
                  <a:pt x="0" y="1646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Freeform 12" id="12"/>
          <p:cNvSpPr/>
          <p:nvPr/>
        </p:nvSpPr>
        <p:spPr>
          <a:xfrm flipH="false" flipV="false" rot="0">
            <a:off x="7074666" y="2438746"/>
            <a:ext cx="8412707" cy="7431373"/>
          </a:xfrm>
          <a:custGeom>
            <a:avLst/>
            <a:gdLst/>
            <a:ahLst/>
            <a:cxnLst/>
            <a:rect r="r" b="b" t="t" l="l"/>
            <a:pathLst>
              <a:path h="7431373" w="8412707">
                <a:moveTo>
                  <a:pt x="0" y="0"/>
                </a:moveTo>
                <a:lnTo>
                  <a:pt x="8412706" y="0"/>
                </a:lnTo>
                <a:lnTo>
                  <a:pt x="8412706" y="7431373"/>
                </a:lnTo>
                <a:lnTo>
                  <a:pt x="0" y="7431373"/>
                </a:lnTo>
                <a:lnTo>
                  <a:pt x="0" y="0"/>
                </a:lnTo>
                <a:close/>
              </a:path>
            </a:pathLst>
          </a:custGeom>
          <a:blipFill>
            <a:blip r:embed="rId7"/>
            <a:stretch>
              <a:fillRect l="0" t="0" r="0" b="0"/>
            </a:stretch>
          </a:blipFill>
        </p:spPr>
      </p:sp>
      <p:sp>
        <p:nvSpPr>
          <p:cNvPr name="TextBox 13" id="13"/>
          <p:cNvSpPr txBox="true"/>
          <p:nvPr/>
        </p:nvSpPr>
        <p:spPr>
          <a:xfrm rot="0">
            <a:off x="3603497" y="2844082"/>
            <a:ext cx="939632" cy="6765925"/>
          </a:xfrm>
          <a:prstGeom prst="rect">
            <a:avLst/>
          </a:prstGeom>
        </p:spPr>
        <p:txBody>
          <a:bodyPr anchor="t" rtlCol="false" tIns="0" lIns="0" bIns="0" rIns="0">
            <a:spAutoFit/>
          </a:bodyPr>
          <a:lstStyle/>
          <a:p>
            <a:pPr algn="ctr">
              <a:lnSpc>
                <a:spcPts val="8299"/>
              </a:lnSpc>
            </a:pPr>
            <a:r>
              <a:rPr lang="en-US" sz="9999">
                <a:solidFill>
                  <a:srgbClr val="E6D8B5"/>
                </a:solidFill>
                <a:latin typeface="EFCO Brookshire"/>
                <a:ea typeface="EFCO Brookshire"/>
                <a:cs typeface="EFCO Brookshire"/>
                <a:sym typeface="EFCO Brookshire"/>
              </a:rPr>
              <a:t>Resul</a:t>
            </a:r>
          </a:p>
          <a:p>
            <a:pPr algn="ctr">
              <a:lnSpc>
                <a:spcPts val="13999"/>
              </a:lnSpc>
            </a:pPr>
            <a:r>
              <a:rPr lang="en-US" sz="9999">
                <a:solidFill>
                  <a:srgbClr val="E6D8B5"/>
                </a:solidFill>
                <a:latin typeface="EFCO Brookshire"/>
                <a:ea typeface="EFCO Brookshire"/>
                <a:cs typeface="EFCO Brookshire"/>
                <a:sym typeface="EFCO Brookshire"/>
              </a:rPr>
              <a:t>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677440" y="8828263"/>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4377672" cy="8265135"/>
            <a:chOff x="0" y="0"/>
            <a:chExt cx="3786712" cy="2176826"/>
          </a:xfrm>
        </p:grpSpPr>
        <p:sp>
          <p:nvSpPr>
            <p:cNvPr name="Freeform 5" id="5"/>
            <p:cNvSpPr/>
            <p:nvPr/>
          </p:nvSpPr>
          <p:spPr>
            <a:xfrm flipH="false" flipV="false" rot="0">
              <a:off x="0" y="0"/>
              <a:ext cx="3786712" cy="2176826"/>
            </a:xfrm>
            <a:custGeom>
              <a:avLst/>
              <a:gdLst/>
              <a:ahLst/>
              <a:cxnLst/>
              <a:rect r="r" b="b" t="t" l="l"/>
              <a:pathLst>
                <a:path h="2176826" w="3786712">
                  <a:moveTo>
                    <a:pt x="0" y="0"/>
                  </a:moveTo>
                  <a:lnTo>
                    <a:pt x="3786712" y="0"/>
                  </a:lnTo>
                  <a:lnTo>
                    <a:pt x="3786712" y="2176826"/>
                  </a:lnTo>
                  <a:lnTo>
                    <a:pt x="0" y="2176826"/>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2214926"/>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2021865"/>
            <a:ext cx="2564768" cy="8265135"/>
            <a:chOff x="0" y="0"/>
            <a:chExt cx="675495" cy="2176826"/>
          </a:xfrm>
        </p:grpSpPr>
        <p:sp>
          <p:nvSpPr>
            <p:cNvPr name="Freeform 8" id="8"/>
            <p:cNvSpPr/>
            <p:nvPr/>
          </p:nvSpPr>
          <p:spPr>
            <a:xfrm flipH="false" flipV="false" rot="0">
              <a:off x="0" y="0"/>
              <a:ext cx="675495" cy="2176826"/>
            </a:xfrm>
            <a:custGeom>
              <a:avLst/>
              <a:gdLst/>
              <a:ahLst/>
              <a:cxnLst/>
              <a:rect r="r" b="b" t="t" l="l"/>
              <a:pathLst>
                <a:path h="2176826" w="675495">
                  <a:moveTo>
                    <a:pt x="0" y="0"/>
                  </a:moveTo>
                  <a:lnTo>
                    <a:pt x="675495" y="0"/>
                  </a:lnTo>
                  <a:lnTo>
                    <a:pt x="675495" y="2176826"/>
                  </a:lnTo>
                  <a:lnTo>
                    <a:pt x="0" y="2176826"/>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675495" cy="2214926"/>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2234680" y="5227744"/>
            <a:ext cx="7315200" cy="1646175"/>
          </a:xfrm>
          <a:custGeom>
            <a:avLst/>
            <a:gdLst/>
            <a:ahLst/>
            <a:cxnLst/>
            <a:rect r="r" b="b" t="t" l="l"/>
            <a:pathLst>
              <a:path h="1646175" w="7315200">
                <a:moveTo>
                  <a:pt x="0" y="0"/>
                </a:moveTo>
                <a:lnTo>
                  <a:pt x="7315200" y="0"/>
                </a:lnTo>
                <a:lnTo>
                  <a:pt x="7315200" y="1646175"/>
                </a:lnTo>
                <a:lnTo>
                  <a:pt x="0" y="16461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Freeform 12" id="12"/>
          <p:cNvSpPr/>
          <p:nvPr/>
        </p:nvSpPr>
        <p:spPr>
          <a:xfrm flipH="false" flipV="false" rot="0">
            <a:off x="7546793" y="2611584"/>
            <a:ext cx="8278963" cy="7275986"/>
          </a:xfrm>
          <a:custGeom>
            <a:avLst/>
            <a:gdLst/>
            <a:ahLst/>
            <a:cxnLst/>
            <a:rect r="r" b="b" t="t" l="l"/>
            <a:pathLst>
              <a:path h="7275986" w="8278963">
                <a:moveTo>
                  <a:pt x="0" y="0"/>
                </a:moveTo>
                <a:lnTo>
                  <a:pt x="8278963" y="0"/>
                </a:lnTo>
                <a:lnTo>
                  <a:pt x="8278963" y="7275986"/>
                </a:lnTo>
                <a:lnTo>
                  <a:pt x="0" y="7275986"/>
                </a:lnTo>
                <a:lnTo>
                  <a:pt x="0" y="0"/>
                </a:lnTo>
                <a:close/>
              </a:path>
            </a:pathLst>
          </a:custGeom>
          <a:blipFill>
            <a:blip r:embed="rId7"/>
            <a:stretch>
              <a:fillRect l="0" t="0" r="0" b="0"/>
            </a:stretch>
          </a:blipFill>
        </p:spPr>
      </p:sp>
      <p:sp>
        <p:nvSpPr>
          <p:cNvPr name="TextBox 13" id="13"/>
          <p:cNvSpPr txBox="true"/>
          <p:nvPr/>
        </p:nvSpPr>
        <p:spPr>
          <a:xfrm rot="0">
            <a:off x="3603497" y="2844082"/>
            <a:ext cx="939632" cy="6765925"/>
          </a:xfrm>
          <a:prstGeom prst="rect">
            <a:avLst/>
          </a:prstGeom>
        </p:spPr>
        <p:txBody>
          <a:bodyPr anchor="t" rtlCol="false" tIns="0" lIns="0" bIns="0" rIns="0">
            <a:spAutoFit/>
          </a:bodyPr>
          <a:lstStyle/>
          <a:p>
            <a:pPr algn="ctr">
              <a:lnSpc>
                <a:spcPts val="8299"/>
              </a:lnSpc>
            </a:pPr>
            <a:r>
              <a:rPr lang="en-US" sz="9999">
                <a:solidFill>
                  <a:srgbClr val="E6D8B5"/>
                </a:solidFill>
                <a:latin typeface="EFCO Brookshire"/>
                <a:ea typeface="EFCO Brookshire"/>
                <a:cs typeface="EFCO Brookshire"/>
                <a:sym typeface="EFCO Brookshire"/>
              </a:rPr>
              <a:t>Resul</a:t>
            </a:r>
          </a:p>
          <a:p>
            <a:pPr algn="ctr">
              <a:lnSpc>
                <a:spcPts val="13999"/>
              </a:lnSpc>
            </a:pPr>
            <a:r>
              <a:rPr lang="en-US" sz="9999">
                <a:solidFill>
                  <a:srgbClr val="E6D8B5"/>
                </a:solidFill>
                <a:latin typeface="EFCO Brookshire"/>
                <a:ea typeface="EFCO Brookshire"/>
                <a:cs typeface="EFCO Brookshire"/>
                <a:sym typeface="EFCO Brookshire"/>
              </a:rPr>
              <a:t>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463489" y="8828263"/>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99833" y="1482177"/>
            <a:ext cx="2030108" cy="9382851"/>
          </a:xfrm>
          <a:custGeom>
            <a:avLst/>
            <a:gdLst/>
            <a:ahLst/>
            <a:cxnLst/>
            <a:rect r="r" b="b" t="t" l="l"/>
            <a:pathLst>
              <a:path h="9382851" w="2030108">
                <a:moveTo>
                  <a:pt x="0" y="0"/>
                </a:moveTo>
                <a:lnTo>
                  <a:pt x="2030108" y="0"/>
                </a:lnTo>
                <a:lnTo>
                  <a:pt x="2030108" y="9382851"/>
                </a:lnTo>
                <a:lnTo>
                  <a:pt x="0" y="9382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881628" y="2021865"/>
            <a:ext cx="14377672" cy="7236435"/>
            <a:chOff x="0" y="0"/>
            <a:chExt cx="3786712" cy="1905892"/>
          </a:xfrm>
        </p:grpSpPr>
        <p:sp>
          <p:nvSpPr>
            <p:cNvPr name="Freeform 6" id="6"/>
            <p:cNvSpPr/>
            <p:nvPr/>
          </p:nvSpPr>
          <p:spPr>
            <a:xfrm flipH="false" flipV="false" rot="0">
              <a:off x="0" y="0"/>
              <a:ext cx="3786712" cy="1905892"/>
            </a:xfrm>
            <a:custGeom>
              <a:avLst/>
              <a:gdLst/>
              <a:ahLst/>
              <a:cxnLst/>
              <a:rect r="r" b="b" t="t" l="l"/>
              <a:pathLst>
                <a:path h="1905892" w="3786712">
                  <a:moveTo>
                    <a:pt x="0" y="0"/>
                  </a:moveTo>
                  <a:lnTo>
                    <a:pt x="3786712" y="0"/>
                  </a:lnTo>
                  <a:lnTo>
                    <a:pt x="3786712" y="1905892"/>
                  </a:lnTo>
                  <a:lnTo>
                    <a:pt x="0" y="1905892"/>
                  </a:lnTo>
                  <a:close/>
                </a:path>
              </a:pathLst>
            </a:custGeom>
            <a:solidFill>
              <a:srgbClr val="151D2D"/>
            </a:solidFill>
            <a:ln w="38100" cap="sq">
              <a:solidFill>
                <a:srgbClr val="8B6F47"/>
              </a:solidFill>
              <a:prstDash val="solid"/>
              <a:miter/>
            </a:ln>
          </p:spPr>
        </p:sp>
        <p:sp>
          <p:nvSpPr>
            <p:cNvPr name="TextBox 7" id="7"/>
            <p:cNvSpPr txBox="true"/>
            <p:nvPr/>
          </p:nvSpPr>
          <p:spPr>
            <a:xfrm>
              <a:off x="0" y="-38100"/>
              <a:ext cx="3786712" cy="1943992"/>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881628" y="1618758"/>
            <a:ext cx="14377672" cy="2107671"/>
            <a:chOff x="0" y="0"/>
            <a:chExt cx="3786712" cy="555107"/>
          </a:xfrm>
        </p:grpSpPr>
        <p:sp>
          <p:nvSpPr>
            <p:cNvPr name="Freeform 9" id="9"/>
            <p:cNvSpPr/>
            <p:nvPr/>
          </p:nvSpPr>
          <p:spPr>
            <a:xfrm flipH="false" flipV="false" rot="0">
              <a:off x="0" y="0"/>
              <a:ext cx="3786712" cy="555107"/>
            </a:xfrm>
            <a:custGeom>
              <a:avLst/>
              <a:gdLst/>
              <a:ahLst/>
              <a:cxnLst/>
              <a:rect r="r" b="b" t="t" l="l"/>
              <a:pathLst>
                <a:path h="555107" w="3786712">
                  <a:moveTo>
                    <a:pt x="0" y="0"/>
                  </a:moveTo>
                  <a:lnTo>
                    <a:pt x="3786712" y="0"/>
                  </a:lnTo>
                  <a:lnTo>
                    <a:pt x="3786712" y="555107"/>
                  </a:lnTo>
                  <a:lnTo>
                    <a:pt x="0" y="555107"/>
                  </a:lnTo>
                  <a:close/>
                </a:path>
              </a:pathLst>
            </a:custGeom>
            <a:solidFill>
              <a:srgbClr val="151D2D"/>
            </a:solidFill>
            <a:ln w="57150" cap="sq">
              <a:solidFill>
                <a:srgbClr val="8B6F47"/>
              </a:solidFill>
              <a:prstDash val="solid"/>
              <a:miter/>
            </a:ln>
          </p:spPr>
        </p:sp>
        <p:sp>
          <p:nvSpPr>
            <p:cNvPr name="TextBox 10" id="10"/>
            <p:cNvSpPr txBox="true"/>
            <p:nvPr/>
          </p:nvSpPr>
          <p:spPr>
            <a:xfrm>
              <a:off x="0" y="-38100"/>
              <a:ext cx="3786712" cy="593207"/>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599833" y="220327"/>
            <a:ext cx="6946960" cy="1261850"/>
          </a:xfrm>
          <a:custGeom>
            <a:avLst/>
            <a:gdLst/>
            <a:ahLst/>
            <a:cxnLst/>
            <a:rect r="r" b="b" t="t" l="l"/>
            <a:pathLst>
              <a:path h="1261850" w="6946960">
                <a:moveTo>
                  <a:pt x="0" y="0"/>
                </a:moveTo>
                <a:lnTo>
                  <a:pt x="6946960" y="0"/>
                </a:lnTo>
                <a:lnTo>
                  <a:pt x="6946960" y="1261850"/>
                </a:lnTo>
                <a:lnTo>
                  <a:pt x="0" y="1261850"/>
                </a:lnTo>
                <a:lnTo>
                  <a:pt x="0" y="0"/>
                </a:lnTo>
                <a:close/>
              </a:path>
            </a:pathLst>
          </a:custGeom>
          <a:blipFill>
            <a:blip r:embed="rId6"/>
            <a:stretch>
              <a:fillRect l="0" t="0" r="0" b="0"/>
            </a:stretch>
          </a:blipFill>
        </p:spPr>
      </p:sp>
      <p:sp>
        <p:nvSpPr>
          <p:cNvPr name="Freeform 12" id="12"/>
          <p:cNvSpPr/>
          <p:nvPr/>
        </p:nvSpPr>
        <p:spPr>
          <a:xfrm flipH="false" flipV="false" rot="0">
            <a:off x="4543712" y="3906024"/>
            <a:ext cx="5526752" cy="4742644"/>
          </a:xfrm>
          <a:custGeom>
            <a:avLst/>
            <a:gdLst/>
            <a:ahLst/>
            <a:cxnLst/>
            <a:rect r="r" b="b" t="t" l="l"/>
            <a:pathLst>
              <a:path h="4742644" w="5526752">
                <a:moveTo>
                  <a:pt x="0" y="0"/>
                </a:moveTo>
                <a:lnTo>
                  <a:pt x="5526752" y="0"/>
                </a:lnTo>
                <a:lnTo>
                  <a:pt x="5526752" y="4742644"/>
                </a:lnTo>
                <a:lnTo>
                  <a:pt x="0" y="4742644"/>
                </a:lnTo>
                <a:lnTo>
                  <a:pt x="0" y="0"/>
                </a:lnTo>
                <a:close/>
              </a:path>
            </a:pathLst>
          </a:custGeom>
          <a:blipFill>
            <a:blip r:embed="rId7"/>
            <a:stretch>
              <a:fillRect l="0" t="0" r="0" b="-2355"/>
            </a:stretch>
          </a:blipFill>
        </p:spPr>
      </p:sp>
      <p:sp>
        <p:nvSpPr>
          <p:cNvPr name="TextBox 13" id="13"/>
          <p:cNvSpPr txBox="true"/>
          <p:nvPr/>
        </p:nvSpPr>
        <p:spPr>
          <a:xfrm rot="0">
            <a:off x="3796577" y="1723287"/>
            <a:ext cx="12676674" cy="1708151"/>
          </a:xfrm>
          <a:prstGeom prst="rect">
            <a:avLst/>
          </a:prstGeom>
        </p:spPr>
        <p:txBody>
          <a:bodyPr anchor="t" rtlCol="false" tIns="0" lIns="0" bIns="0" rIns="0">
            <a:spAutoFit/>
          </a:bodyPr>
          <a:lstStyle/>
          <a:p>
            <a:pPr algn="ctr">
              <a:lnSpc>
                <a:spcPts val="13999"/>
              </a:lnSpc>
            </a:pPr>
            <a:r>
              <a:rPr lang="en-US" sz="9999">
                <a:solidFill>
                  <a:srgbClr val="E6D8B5"/>
                </a:solidFill>
                <a:latin typeface="EFCO Brookshire"/>
                <a:ea typeface="EFCO Brookshire"/>
                <a:cs typeface="EFCO Brookshire"/>
                <a:sym typeface="EFCO Brookshire"/>
              </a:rPr>
              <a:t>Demonstration</a:t>
            </a:r>
          </a:p>
        </p:txBody>
      </p:sp>
      <p:sp>
        <p:nvSpPr>
          <p:cNvPr name="TextBox 14" id="14"/>
          <p:cNvSpPr txBox="true"/>
          <p:nvPr/>
        </p:nvSpPr>
        <p:spPr>
          <a:xfrm rot="0">
            <a:off x="11508016" y="4553711"/>
            <a:ext cx="4358890" cy="3260724"/>
          </a:xfrm>
          <a:prstGeom prst="rect">
            <a:avLst/>
          </a:prstGeom>
        </p:spPr>
        <p:txBody>
          <a:bodyPr anchor="t" rtlCol="false" tIns="0" lIns="0" bIns="0" rIns="0">
            <a:spAutoFit/>
          </a:bodyPr>
          <a:lstStyle/>
          <a:p>
            <a:pPr algn="ctr">
              <a:lnSpc>
                <a:spcPts val="8299"/>
              </a:lnSpc>
            </a:pPr>
            <a:r>
              <a:rPr lang="en-US" sz="9999">
                <a:solidFill>
                  <a:srgbClr val="E6D8B5"/>
                </a:solidFill>
                <a:latin typeface="EFCO Brookshire"/>
                <a:ea typeface="EFCO Brookshire"/>
                <a:cs typeface="EFCO Brookshire"/>
                <a:sym typeface="EFCO Brookshire"/>
              </a:rPr>
              <a:t>now let's give a try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515640" y="8856729"/>
            <a:ext cx="6795811" cy="803141"/>
          </a:xfrm>
          <a:custGeom>
            <a:avLst/>
            <a:gdLst/>
            <a:ahLst/>
            <a:cxnLst/>
            <a:rect r="r" b="b" t="t" l="l"/>
            <a:pathLst>
              <a:path h="803141" w="6795811">
                <a:moveTo>
                  <a:pt x="6795811" y="0"/>
                </a:moveTo>
                <a:lnTo>
                  <a:pt x="0" y="0"/>
                </a:lnTo>
                <a:lnTo>
                  <a:pt x="0" y="803142"/>
                </a:lnTo>
                <a:lnTo>
                  <a:pt x="6795811" y="803142"/>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4377672" cy="7236435"/>
            <a:chOff x="0" y="0"/>
            <a:chExt cx="3786712" cy="1905892"/>
          </a:xfrm>
        </p:grpSpPr>
        <p:sp>
          <p:nvSpPr>
            <p:cNvPr name="Freeform 5" id="5"/>
            <p:cNvSpPr/>
            <p:nvPr/>
          </p:nvSpPr>
          <p:spPr>
            <a:xfrm flipH="false" flipV="false" rot="0">
              <a:off x="0" y="0"/>
              <a:ext cx="3786712" cy="1905892"/>
            </a:xfrm>
            <a:custGeom>
              <a:avLst/>
              <a:gdLst/>
              <a:ahLst/>
              <a:cxnLst/>
              <a:rect r="r" b="b" t="t" l="l"/>
              <a:pathLst>
                <a:path h="1905892" w="3786712">
                  <a:moveTo>
                    <a:pt x="0" y="0"/>
                  </a:moveTo>
                  <a:lnTo>
                    <a:pt x="3786712" y="0"/>
                  </a:lnTo>
                  <a:lnTo>
                    <a:pt x="3786712" y="1905892"/>
                  </a:lnTo>
                  <a:lnTo>
                    <a:pt x="0" y="1905892"/>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194399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618758"/>
            <a:ext cx="14377672" cy="2107671"/>
            <a:chOff x="0" y="0"/>
            <a:chExt cx="3786712" cy="555107"/>
          </a:xfrm>
        </p:grpSpPr>
        <p:sp>
          <p:nvSpPr>
            <p:cNvPr name="Freeform 8" id="8"/>
            <p:cNvSpPr/>
            <p:nvPr/>
          </p:nvSpPr>
          <p:spPr>
            <a:xfrm flipH="false" flipV="false" rot="0">
              <a:off x="0" y="0"/>
              <a:ext cx="3786712" cy="555107"/>
            </a:xfrm>
            <a:custGeom>
              <a:avLst/>
              <a:gdLst/>
              <a:ahLst/>
              <a:cxnLst/>
              <a:rect r="r" b="b" t="t" l="l"/>
              <a:pathLst>
                <a:path h="555107" w="3786712">
                  <a:moveTo>
                    <a:pt x="0" y="0"/>
                  </a:moveTo>
                  <a:lnTo>
                    <a:pt x="3786712" y="0"/>
                  </a:lnTo>
                  <a:lnTo>
                    <a:pt x="3786712" y="555107"/>
                  </a:lnTo>
                  <a:lnTo>
                    <a:pt x="0" y="555107"/>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59320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3173695" y="5821152"/>
            <a:ext cx="9419842" cy="1015053"/>
          </a:xfrm>
          <a:custGeom>
            <a:avLst/>
            <a:gdLst/>
            <a:ahLst/>
            <a:cxnLst/>
            <a:rect r="r" b="b" t="t" l="l"/>
            <a:pathLst>
              <a:path h="1015053" w="9419842">
                <a:moveTo>
                  <a:pt x="0" y="0"/>
                </a:moveTo>
                <a:lnTo>
                  <a:pt x="9419843" y="0"/>
                </a:lnTo>
                <a:lnTo>
                  <a:pt x="9419843" y="1015053"/>
                </a:lnTo>
                <a:lnTo>
                  <a:pt x="0" y="10150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511351" y="1723287"/>
            <a:ext cx="13056972" cy="1708151"/>
          </a:xfrm>
          <a:prstGeom prst="rect">
            <a:avLst/>
          </a:prstGeom>
        </p:spPr>
        <p:txBody>
          <a:bodyPr anchor="t" rtlCol="false" tIns="0" lIns="0" bIns="0" rIns="0">
            <a:spAutoFit/>
          </a:bodyPr>
          <a:lstStyle/>
          <a:p>
            <a:pPr algn="ctr">
              <a:lnSpc>
                <a:spcPts val="13999"/>
              </a:lnSpc>
            </a:pPr>
            <a:r>
              <a:rPr lang="en-US" sz="9999">
                <a:solidFill>
                  <a:srgbClr val="E6D8B5"/>
                </a:solidFill>
                <a:latin typeface="EFCO Brookshire"/>
                <a:ea typeface="EFCO Brookshire"/>
                <a:cs typeface="EFCO Brookshire"/>
                <a:sym typeface="EFCO Brookshire"/>
              </a:rPr>
              <a:t>Conclusion</a:t>
            </a:r>
          </a:p>
        </p:txBody>
      </p:sp>
      <p:sp>
        <p:nvSpPr>
          <p:cNvPr name="TextBox 12" id="12"/>
          <p:cNvSpPr txBox="true"/>
          <p:nvPr/>
        </p:nvSpPr>
        <p:spPr>
          <a:xfrm rot="0">
            <a:off x="5206879" y="4746847"/>
            <a:ext cx="9665917" cy="3648075"/>
          </a:xfrm>
          <a:prstGeom prst="rect">
            <a:avLst/>
          </a:prstGeom>
        </p:spPr>
        <p:txBody>
          <a:bodyPr anchor="t" rtlCol="false" tIns="0" lIns="0" bIns="0" rIns="0">
            <a:spAutoFit/>
          </a:bodyPr>
          <a:lstStyle/>
          <a:p>
            <a:pPr algn="l">
              <a:lnSpc>
                <a:spcPts val="4199"/>
              </a:lnSpc>
            </a:pPr>
            <a:r>
              <a:rPr lang="en-US" sz="2999">
                <a:solidFill>
                  <a:srgbClr val="E6D8B5"/>
                </a:solidFill>
                <a:latin typeface="Ibarra Real Nova"/>
                <a:ea typeface="Ibarra Real Nova"/>
                <a:cs typeface="Ibarra Real Nova"/>
                <a:sym typeface="Ibarra Real Nova"/>
              </a:rPr>
              <a:t>TitanLift started from a problem everyone’s quietly felt nowsday, waiting in an elevator that stops at every floor when you’re already running late. We took the Titanic’s old idea of priority access and rebuilt it as something fair and temporary: a verified VIP card scan triggers Express Mode, sending the elevator straight to Floor 9, then automatically returning to normal service once that trip is done.</a:t>
            </a:r>
          </a:p>
        </p:txBody>
      </p:sp>
      <p:sp>
        <p:nvSpPr>
          <p:cNvPr name="Freeform 13" id="13"/>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6"/>
            <a:stretch>
              <a:fillRect l="0" t="0" r="0" b="0"/>
            </a:stretch>
          </a:blipFill>
        </p:spPr>
      </p:sp>
      <p:sp>
        <p:nvSpPr>
          <p:cNvPr name="TextBox 14" id="14"/>
          <p:cNvSpPr txBox="true"/>
          <p:nvPr/>
        </p:nvSpPr>
        <p:spPr>
          <a:xfrm rot="0">
            <a:off x="2520751" y="3602604"/>
            <a:ext cx="5460279" cy="1144243"/>
          </a:xfrm>
          <a:prstGeom prst="rect">
            <a:avLst/>
          </a:prstGeom>
        </p:spPr>
        <p:txBody>
          <a:bodyPr anchor="t" rtlCol="false" tIns="0" lIns="0" bIns="0" rIns="0">
            <a:spAutoFit/>
          </a:bodyPr>
          <a:lstStyle/>
          <a:p>
            <a:pPr algn="l" marL="1446761" indent="-723381" lvl="1">
              <a:lnSpc>
                <a:spcPts val="9381"/>
              </a:lnSpc>
              <a:buFont typeface="Arial"/>
              <a:buChar char="•"/>
            </a:pPr>
            <a:r>
              <a:rPr lang="en-US" sz="6701">
                <a:solidFill>
                  <a:srgbClr val="E6D8B5"/>
                </a:solidFill>
                <a:latin typeface="EFCO Brookshire"/>
                <a:ea typeface="EFCO Brookshire"/>
                <a:cs typeface="EFCO Brookshire"/>
                <a:sym typeface="EFCO Brookshire"/>
              </a:rPr>
              <a:t>Summary: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450176" y="8952088"/>
            <a:ext cx="6795811" cy="803141"/>
          </a:xfrm>
          <a:custGeom>
            <a:avLst/>
            <a:gdLst/>
            <a:ahLst/>
            <a:cxnLst/>
            <a:rect r="r" b="b" t="t" l="l"/>
            <a:pathLst>
              <a:path h="803141" w="6795811">
                <a:moveTo>
                  <a:pt x="0" y="0"/>
                </a:moveTo>
                <a:lnTo>
                  <a:pt x="6795811" y="0"/>
                </a:lnTo>
                <a:lnTo>
                  <a:pt x="6795811"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914735" y="8982105"/>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4377672" cy="7236435"/>
            <a:chOff x="0" y="0"/>
            <a:chExt cx="3786712" cy="1905892"/>
          </a:xfrm>
        </p:grpSpPr>
        <p:sp>
          <p:nvSpPr>
            <p:cNvPr name="Freeform 5" id="5"/>
            <p:cNvSpPr/>
            <p:nvPr/>
          </p:nvSpPr>
          <p:spPr>
            <a:xfrm flipH="false" flipV="false" rot="0">
              <a:off x="0" y="0"/>
              <a:ext cx="3786712" cy="1905892"/>
            </a:xfrm>
            <a:custGeom>
              <a:avLst/>
              <a:gdLst/>
              <a:ahLst/>
              <a:cxnLst/>
              <a:rect r="r" b="b" t="t" l="l"/>
              <a:pathLst>
                <a:path h="1905892" w="3786712">
                  <a:moveTo>
                    <a:pt x="0" y="0"/>
                  </a:moveTo>
                  <a:lnTo>
                    <a:pt x="3786712" y="0"/>
                  </a:lnTo>
                  <a:lnTo>
                    <a:pt x="3786712" y="1905892"/>
                  </a:lnTo>
                  <a:lnTo>
                    <a:pt x="0" y="1905892"/>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786712" cy="194399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691727"/>
            <a:ext cx="14377672" cy="2034702"/>
            <a:chOff x="0" y="0"/>
            <a:chExt cx="3786712" cy="535889"/>
          </a:xfrm>
        </p:grpSpPr>
        <p:sp>
          <p:nvSpPr>
            <p:cNvPr name="Freeform 8" id="8"/>
            <p:cNvSpPr/>
            <p:nvPr/>
          </p:nvSpPr>
          <p:spPr>
            <a:xfrm flipH="false" flipV="false" rot="0">
              <a:off x="0" y="0"/>
              <a:ext cx="3786712" cy="535889"/>
            </a:xfrm>
            <a:custGeom>
              <a:avLst/>
              <a:gdLst/>
              <a:ahLst/>
              <a:cxnLst/>
              <a:rect r="r" b="b" t="t" l="l"/>
              <a:pathLst>
                <a:path h="535889" w="3786712">
                  <a:moveTo>
                    <a:pt x="0" y="0"/>
                  </a:moveTo>
                  <a:lnTo>
                    <a:pt x="3786712" y="0"/>
                  </a:lnTo>
                  <a:lnTo>
                    <a:pt x="3786712" y="535889"/>
                  </a:lnTo>
                  <a:lnTo>
                    <a:pt x="0" y="535889"/>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573989"/>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28700" y="1691727"/>
            <a:ext cx="1421476" cy="4114800"/>
          </a:xfrm>
          <a:custGeom>
            <a:avLst/>
            <a:gdLst/>
            <a:ahLst/>
            <a:cxnLst/>
            <a:rect r="r" b="b" t="t" l="l"/>
            <a:pathLst>
              <a:path h="4114800" w="1421476">
                <a:moveTo>
                  <a:pt x="0" y="0"/>
                </a:moveTo>
                <a:lnTo>
                  <a:pt x="1421476" y="0"/>
                </a:lnTo>
                <a:lnTo>
                  <a:pt x="14214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1028700" y="5143500"/>
            <a:ext cx="1421476" cy="4114800"/>
          </a:xfrm>
          <a:custGeom>
            <a:avLst/>
            <a:gdLst/>
            <a:ahLst/>
            <a:cxnLst/>
            <a:rect r="r" b="b" t="t" l="l"/>
            <a:pathLst>
              <a:path h="4114800" w="1421476">
                <a:moveTo>
                  <a:pt x="0" y="4114800"/>
                </a:moveTo>
                <a:lnTo>
                  <a:pt x="1421476" y="4114800"/>
                </a:lnTo>
                <a:lnTo>
                  <a:pt x="1421476"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537023" y="2689745"/>
            <a:ext cx="6138518" cy="613851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1D2D"/>
            </a:solidFill>
            <a:ln w="57150" cap="sq">
              <a:solidFill>
                <a:srgbClr val="8B6F47"/>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3326614" y="3294025"/>
            <a:ext cx="2602212" cy="4770722"/>
          </a:xfrm>
          <a:custGeom>
            <a:avLst/>
            <a:gdLst/>
            <a:ahLst/>
            <a:cxnLst/>
            <a:rect r="r" b="b" t="t" l="l"/>
            <a:pathLst>
              <a:path h="4770722" w="2602212">
                <a:moveTo>
                  <a:pt x="0" y="0"/>
                </a:moveTo>
                <a:lnTo>
                  <a:pt x="2602212" y="0"/>
                </a:lnTo>
                <a:lnTo>
                  <a:pt x="2602212" y="4770723"/>
                </a:lnTo>
                <a:lnTo>
                  <a:pt x="0" y="4770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3154584" y="1522375"/>
            <a:ext cx="14377672" cy="1533525"/>
          </a:xfrm>
          <a:prstGeom prst="rect">
            <a:avLst/>
          </a:prstGeom>
        </p:spPr>
        <p:txBody>
          <a:bodyPr anchor="t" rtlCol="false" tIns="0" lIns="0" bIns="0" rIns="0">
            <a:spAutoFit/>
          </a:bodyPr>
          <a:lstStyle/>
          <a:p>
            <a:pPr algn="ctr">
              <a:lnSpc>
                <a:spcPts val="12599"/>
              </a:lnSpc>
            </a:pPr>
            <a:r>
              <a:rPr lang="en-US" sz="9000">
                <a:solidFill>
                  <a:srgbClr val="E6D8B5"/>
                </a:solidFill>
                <a:latin typeface="EFCO Brookshire"/>
                <a:ea typeface="EFCO Brookshire"/>
                <a:cs typeface="EFCO Brookshire"/>
                <a:sym typeface="EFCO Brookshire"/>
              </a:rPr>
              <a:t>Challenges/Difficulty</a:t>
            </a:r>
          </a:p>
        </p:txBody>
      </p:sp>
      <p:sp>
        <p:nvSpPr>
          <p:cNvPr name="TextBox 17" id="17"/>
          <p:cNvSpPr txBox="true"/>
          <p:nvPr/>
        </p:nvSpPr>
        <p:spPr>
          <a:xfrm rot="0">
            <a:off x="7784154" y="3920810"/>
            <a:ext cx="7728296"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We face many problems about coding </a:t>
            </a:r>
          </a:p>
        </p:txBody>
      </p:sp>
      <p:sp>
        <p:nvSpPr>
          <p:cNvPr name="Freeform 18" id="18"/>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8"/>
            <a:stretch>
              <a:fillRect l="0" t="0" r="0" b="0"/>
            </a:stretch>
          </a:blipFill>
        </p:spPr>
      </p:sp>
      <p:sp>
        <p:nvSpPr>
          <p:cNvPr name="TextBox 19" id="19"/>
          <p:cNvSpPr txBox="true"/>
          <p:nvPr/>
        </p:nvSpPr>
        <p:spPr>
          <a:xfrm rot="0">
            <a:off x="7784154" y="6027595"/>
            <a:ext cx="6261161"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Never know about GUI</a:t>
            </a:r>
          </a:p>
        </p:txBody>
      </p:sp>
      <p:sp>
        <p:nvSpPr>
          <p:cNvPr name="TextBox 20" id="20"/>
          <p:cNvSpPr txBox="true"/>
          <p:nvPr/>
        </p:nvSpPr>
        <p:spPr>
          <a:xfrm rot="0">
            <a:off x="7784154" y="4713144"/>
            <a:ext cx="7131206" cy="1028700"/>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Our coding isn't good enough to build the whole things</a:t>
            </a:r>
          </a:p>
        </p:txBody>
      </p:sp>
      <p:sp>
        <p:nvSpPr>
          <p:cNvPr name="TextBox 21" id="21"/>
          <p:cNvSpPr txBox="true"/>
          <p:nvPr/>
        </p:nvSpPr>
        <p:spPr>
          <a:xfrm rot="0">
            <a:off x="7784154" y="6819929"/>
            <a:ext cx="6261161"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Start doing GUI from Zero</a:t>
            </a:r>
          </a:p>
        </p:txBody>
      </p:sp>
      <p:sp>
        <p:nvSpPr>
          <p:cNvPr name="TextBox 22" id="22"/>
          <p:cNvSpPr txBox="true"/>
          <p:nvPr/>
        </p:nvSpPr>
        <p:spPr>
          <a:xfrm rot="0">
            <a:off x="7784154" y="7610504"/>
            <a:ext cx="7267684" cy="1028700"/>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Spent almost 3days just to install GUI and we use GTK</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2881628" y="8828263"/>
            <a:ext cx="6795811" cy="803141"/>
          </a:xfrm>
          <a:custGeom>
            <a:avLst/>
            <a:gdLst/>
            <a:ahLst/>
            <a:cxnLst/>
            <a:rect r="r" b="b" t="t" l="l"/>
            <a:pathLst>
              <a:path h="803141" w="6795811">
                <a:moveTo>
                  <a:pt x="0" y="0"/>
                </a:moveTo>
                <a:lnTo>
                  <a:pt x="6795812" y="0"/>
                </a:lnTo>
                <a:lnTo>
                  <a:pt x="6795812" y="803141"/>
                </a:lnTo>
                <a:lnTo>
                  <a:pt x="0" y="803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677440" y="8828263"/>
            <a:ext cx="6795811" cy="803141"/>
          </a:xfrm>
          <a:custGeom>
            <a:avLst/>
            <a:gdLst/>
            <a:ahLst/>
            <a:cxnLst/>
            <a:rect r="r" b="b" t="t" l="l"/>
            <a:pathLst>
              <a:path h="803141" w="6795811">
                <a:moveTo>
                  <a:pt x="6795811" y="0"/>
                </a:moveTo>
                <a:lnTo>
                  <a:pt x="0" y="0"/>
                </a:lnTo>
                <a:lnTo>
                  <a:pt x="0" y="803141"/>
                </a:lnTo>
                <a:lnTo>
                  <a:pt x="6795811" y="803141"/>
                </a:lnTo>
                <a:lnTo>
                  <a:pt x="679581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81628" y="2021865"/>
            <a:ext cx="13591622" cy="7236435"/>
            <a:chOff x="0" y="0"/>
            <a:chExt cx="3579687" cy="1905892"/>
          </a:xfrm>
        </p:grpSpPr>
        <p:sp>
          <p:nvSpPr>
            <p:cNvPr name="Freeform 5" id="5"/>
            <p:cNvSpPr/>
            <p:nvPr/>
          </p:nvSpPr>
          <p:spPr>
            <a:xfrm flipH="false" flipV="false" rot="0">
              <a:off x="0" y="0"/>
              <a:ext cx="3579687" cy="1905892"/>
            </a:xfrm>
            <a:custGeom>
              <a:avLst/>
              <a:gdLst/>
              <a:ahLst/>
              <a:cxnLst/>
              <a:rect r="r" b="b" t="t" l="l"/>
              <a:pathLst>
                <a:path h="1905892" w="3579687">
                  <a:moveTo>
                    <a:pt x="0" y="0"/>
                  </a:moveTo>
                  <a:lnTo>
                    <a:pt x="3579687" y="0"/>
                  </a:lnTo>
                  <a:lnTo>
                    <a:pt x="3579687" y="1905892"/>
                  </a:lnTo>
                  <a:lnTo>
                    <a:pt x="0" y="1905892"/>
                  </a:lnTo>
                  <a:close/>
                </a:path>
              </a:pathLst>
            </a:custGeom>
            <a:solidFill>
              <a:srgbClr val="151D2D"/>
            </a:solidFill>
            <a:ln w="38100" cap="sq">
              <a:solidFill>
                <a:srgbClr val="8B6F47"/>
              </a:solidFill>
              <a:prstDash val="solid"/>
              <a:miter/>
            </a:ln>
          </p:spPr>
        </p:sp>
        <p:sp>
          <p:nvSpPr>
            <p:cNvPr name="TextBox 6" id="6"/>
            <p:cNvSpPr txBox="true"/>
            <p:nvPr/>
          </p:nvSpPr>
          <p:spPr>
            <a:xfrm>
              <a:off x="0" y="-38100"/>
              <a:ext cx="3579687" cy="194399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881628" y="1559250"/>
            <a:ext cx="14377672" cy="2167179"/>
            <a:chOff x="0" y="0"/>
            <a:chExt cx="3786712" cy="570780"/>
          </a:xfrm>
        </p:grpSpPr>
        <p:sp>
          <p:nvSpPr>
            <p:cNvPr name="Freeform 8" id="8"/>
            <p:cNvSpPr/>
            <p:nvPr/>
          </p:nvSpPr>
          <p:spPr>
            <a:xfrm flipH="false" flipV="false" rot="0">
              <a:off x="0" y="0"/>
              <a:ext cx="3786712" cy="570780"/>
            </a:xfrm>
            <a:custGeom>
              <a:avLst/>
              <a:gdLst/>
              <a:ahLst/>
              <a:cxnLst/>
              <a:rect r="r" b="b" t="t" l="l"/>
              <a:pathLst>
                <a:path h="570780" w="3786712">
                  <a:moveTo>
                    <a:pt x="0" y="0"/>
                  </a:moveTo>
                  <a:lnTo>
                    <a:pt x="3786712" y="0"/>
                  </a:lnTo>
                  <a:lnTo>
                    <a:pt x="3786712" y="570780"/>
                  </a:lnTo>
                  <a:lnTo>
                    <a:pt x="0" y="570780"/>
                  </a:lnTo>
                  <a:close/>
                </a:path>
              </a:pathLst>
            </a:custGeom>
            <a:solidFill>
              <a:srgbClr val="151D2D"/>
            </a:solidFill>
            <a:ln w="57150" cap="sq">
              <a:solidFill>
                <a:srgbClr val="8B6F47"/>
              </a:solidFill>
              <a:prstDash val="solid"/>
              <a:miter/>
            </a:ln>
          </p:spPr>
        </p:sp>
        <p:sp>
          <p:nvSpPr>
            <p:cNvPr name="TextBox 9" id="9"/>
            <p:cNvSpPr txBox="true"/>
            <p:nvPr/>
          </p:nvSpPr>
          <p:spPr>
            <a:xfrm>
              <a:off x="0" y="-38100"/>
              <a:ext cx="3786712" cy="60888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028700" y="1669029"/>
            <a:ext cx="1421476" cy="4114800"/>
          </a:xfrm>
          <a:custGeom>
            <a:avLst/>
            <a:gdLst/>
            <a:ahLst/>
            <a:cxnLst/>
            <a:rect r="r" b="b" t="t" l="l"/>
            <a:pathLst>
              <a:path h="4114800" w="1421476">
                <a:moveTo>
                  <a:pt x="0" y="0"/>
                </a:moveTo>
                <a:lnTo>
                  <a:pt x="1421476" y="0"/>
                </a:lnTo>
                <a:lnTo>
                  <a:pt x="14214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1028700" y="5143500"/>
            <a:ext cx="1421476" cy="4114800"/>
          </a:xfrm>
          <a:custGeom>
            <a:avLst/>
            <a:gdLst/>
            <a:ahLst/>
            <a:cxnLst/>
            <a:rect r="r" b="b" t="t" l="l"/>
            <a:pathLst>
              <a:path h="4114800" w="1421476">
                <a:moveTo>
                  <a:pt x="0" y="4114800"/>
                </a:moveTo>
                <a:lnTo>
                  <a:pt x="1421476" y="4114800"/>
                </a:lnTo>
                <a:lnTo>
                  <a:pt x="1421476"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2149482" y="2846190"/>
            <a:ext cx="6138518" cy="613851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1D2D"/>
            </a:solidFill>
            <a:ln w="57150" cap="sq">
              <a:solidFill>
                <a:srgbClr val="8B6F47"/>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3890916" y="3888432"/>
            <a:ext cx="2655651" cy="4114800"/>
          </a:xfrm>
          <a:custGeom>
            <a:avLst/>
            <a:gdLst/>
            <a:ahLst/>
            <a:cxnLst/>
            <a:rect r="r" b="b" t="t" l="l"/>
            <a:pathLst>
              <a:path h="4114800" w="2655651">
                <a:moveTo>
                  <a:pt x="0" y="0"/>
                </a:moveTo>
                <a:lnTo>
                  <a:pt x="2655651" y="0"/>
                </a:lnTo>
                <a:lnTo>
                  <a:pt x="265565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488604" y="1745307"/>
            <a:ext cx="14377672" cy="1533525"/>
          </a:xfrm>
          <a:prstGeom prst="rect">
            <a:avLst/>
          </a:prstGeom>
        </p:spPr>
        <p:txBody>
          <a:bodyPr anchor="t" rtlCol="false" tIns="0" lIns="0" bIns="0" rIns="0">
            <a:spAutoFit/>
          </a:bodyPr>
          <a:lstStyle/>
          <a:p>
            <a:pPr algn="ctr">
              <a:lnSpc>
                <a:spcPts val="12599"/>
              </a:lnSpc>
            </a:pPr>
            <a:r>
              <a:rPr lang="en-US" sz="9000">
                <a:solidFill>
                  <a:srgbClr val="E6D8B5"/>
                </a:solidFill>
                <a:latin typeface="EFCO Brookshire"/>
                <a:ea typeface="EFCO Brookshire"/>
                <a:cs typeface="EFCO Brookshire"/>
                <a:sym typeface="EFCO Brookshire"/>
              </a:rPr>
              <a:t>Lesson learnt</a:t>
            </a:r>
          </a:p>
        </p:txBody>
      </p:sp>
      <p:sp>
        <p:nvSpPr>
          <p:cNvPr name="TextBox 17" id="17"/>
          <p:cNvSpPr txBox="true"/>
          <p:nvPr/>
        </p:nvSpPr>
        <p:spPr>
          <a:xfrm rot="0">
            <a:off x="4417116" y="4021704"/>
            <a:ext cx="7173753"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Improved our coding skills</a:t>
            </a:r>
          </a:p>
        </p:txBody>
      </p:sp>
      <p:sp>
        <p:nvSpPr>
          <p:cNvPr name="Freeform 18" id="18"/>
          <p:cNvSpPr/>
          <p:nvPr/>
        </p:nvSpPr>
        <p:spPr>
          <a:xfrm flipH="false" flipV="false" rot="0">
            <a:off x="599833" y="297399"/>
            <a:ext cx="6946960" cy="1261850"/>
          </a:xfrm>
          <a:custGeom>
            <a:avLst/>
            <a:gdLst/>
            <a:ahLst/>
            <a:cxnLst/>
            <a:rect r="r" b="b" t="t" l="l"/>
            <a:pathLst>
              <a:path h="1261850" w="6946960">
                <a:moveTo>
                  <a:pt x="0" y="0"/>
                </a:moveTo>
                <a:lnTo>
                  <a:pt x="6946960" y="0"/>
                </a:lnTo>
                <a:lnTo>
                  <a:pt x="6946960" y="1261851"/>
                </a:lnTo>
                <a:lnTo>
                  <a:pt x="0" y="1261851"/>
                </a:lnTo>
                <a:lnTo>
                  <a:pt x="0" y="0"/>
                </a:lnTo>
                <a:close/>
              </a:path>
            </a:pathLst>
          </a:custGeom>
          <a:blipFill>
            <a:blip r:embed="rId8"/>
            <a:stretch>
              <a:fillRect l="0" t="0" r="0" b="0"/>
            </a:stretch>
          </a:blipFill>
        </p:spPr>
      </p:sp>
      <p:sp>
        <p:nvSpPr>
          <p:cNvPr name="TextBox 19" id="19"/>
          <p:cNvSpPr txBox="true"/>
          <p:nvPr/>
        </p:nvSpPr>
        <p:spPr>
          <a:xfrm rot="0">
            <a:off x="4417116" y="4886748"/>
            <a:ext cx="7173753" cy="1028700"/>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Understand well how to use struct, function and string</a:t>
            </a:r>
          </a:p>
        </p:txBody>
      </p:sp>
      <p:sp>
        <p:nvSpPr>
          <p:cNvPr name="TextBox 20" id="20"/>
          <p:cNvSpPr txBox="true"/>
          <p:nvPr/>
        </p:nvSpPr>
        <p:spPr>
          <a:xfrm rot="0">
            <a:off x="4417116" y="6057900"/>
            <a:ext cx="7173753"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Know how to sovle the real-problem</a:t>
            </a:r>
          </a:p>
        </p:txBody>
      </p:sp>
      <p:sp>
        <p:nvSpPr>
          <p:cNvPr name="TextBox 21" id="21"/>
          <p:cNvSpPr txBox="true"/>
          <p:nvPr/>
        </p:nvSpPr>
        <p:spPr>
          <a:xfrm rot="0">
            <a:off x="4417116" y="6962069"/>
            <a:ext cx="7173753"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Starting to know about GUI </a:t>
            </a:r>
          </a:p>
        </p:txBody>
      </p:sp>
      <p:sp>
        <p:nvSpPr>
          <p:cNvPr name="TextBox 22" id="22"/>
          <p:cNvSpPr txBox="true"/>
          <p:nvPr/>
        </p:nvSpPr>
        <p:spPr>
          <a:xfrm rot="0">
            <a:off x="4417116" y="7866944"/>
            <a:ext cx="7173753" cy="504825"/>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E6D8B5"/>
                </a:solidFill>
                <a:latin typeface="Ibarra Real Nova"/>
                <a:ea typeface="Ibarra Real Nova"/>
                <a:cs typeface="Ibarra Real Nova"/>
                <a:sym typeface="Ibarra Real Nova"/>
              </a:rPr>
              <a:t>Learnt how to work as a team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B263B"/>
        </a:solidFill>
      </p:bgPr>
    </p:bg>
    <p:spTree>
      <p:nvGrpSpPr>
        <p:cNvPr id="1" name=""/>
        <p:cNvGrpSpPr/>
        <p:nvPr/>
      </p:nvGrpSpPr>
      <p:grpSpPr>
        <a:xfrm>
          <a:off x="0" y="0"/>
          <a:ext cx="0" cy="0"/>
          <a:chOff x="0" y="0"/>
          <a:chExt cx="0" cy="0"/>
        </a:xfrm>
      </p:grpSpPr>
      <p:sp>
        <p:nvSpPr>
          <p:cNvPr name="Freeform 2" id="2"/>
          <p:cNvSpPr/>
          <p:nvPr/>
        </p:nvSpPr>
        <p:spPr>
          <a:xfrm flipH="false" flipV="false" rot="0">
            <a:off x="574483" y="835433"/>
            <a:ext cx="2030108" cy="9382851"/>
          </a:xfrm>
          <a:custGeom>
            <a:avLst/>
            <a:gdLst/>
            <a:ahLst/>
            <a:cxnLst/>
            <a:rect r="r" b="b" t="t" l="l"/>
            <a:pathLst>
              <a:path h="9382851" w="2030108">
                <a:moveTo>
                  <a:pt x="0" y="0"/>
                </a:moveTo>
                <a:lnTo>
                  <a:pt x="2030107" y="0"/>
                </a:lnTo>
                <a:lnTo>
                  <a:pt x="2030107" y="9382850"/>
                </a:lnTo>
                <a:lnTo>
                  <a:pt x="0" y="93828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40824" y="8781233"/>
            <a:ext cx="5974787" cy="706111"/>
          </a:xfrm>
          <a:custGeom>
            <a:avLst/>
            <a:gdLst/>
            <a:ahLst/>
            <a:cxnLst/>
            <a:rect r="r" b="b" t="t" l="l"/>
            <a:pathLst>
              <a:path h="706111" w="5974787">
                <a:moveTo>
                  <a:pt x="0" y="0"/>
                </a:moveTo>
                <a:lnTo>
                  <a:pt x="5974787" y="0"/>
                </a:lnTo>
                <a:lnTo>
                  <a:pt x="5974787" y="706111"/>
                </a:lnTo>
                <a:lnTo>
                  <a:pt x="0" y="7061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1163392" y="8781233"/>
            <a:ext cx="6314072" cy="746209"/>
          </a:xfrm>
          <a:custGeom>
            <a:avLst/>
            <a:gdLst/>
            <a:ahLst/>
            <a:cxnLst/>
            <a:rect r="r" b="b" t="t" l="l"/>
            <a:pathLst>
              <a:path h="746209" w="6314072">
                <a:moveTo>
                  <a:pt x="6314072" y="0"/>
                </a:moveTo>
                <a:lnTo>
                  <a:pt x="0" y="0"/>
                </a:lnTo>
                <a:lnTo>
                  <a:pt x="0" y="746209"/>
                </a:lnTo>
                <a:lnTo>
                  <a:pt x="6314072" y="746209"/>
                </a:lnTo>
                <a:lnTo>
                  <a:pt x="6314072"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4071152" y="2618094"/>
            <a:ext cx="12628144" cy="6536244"/>
            <a:chOff x="0" y="0"/>
            <a:chExt cx="3325931" cy="1721480"/>
          </a:xfrm>
        </p:grpSpPr>
        <p:sp>
          <p:nvSpPr>
            <p:cNvPr name="Freeform 6" id="6"/>
            <p:cNvSpPr/>
            <p:nvPr/>
          </p:nvSpPr>
          <p:spPr>
            <a:xfrm flipH="false" flipV="false" rot="0">
              <a:off x="0" y="0"/>
              <a:ext cx="3325931" cy="1721480"/>
            </a:xfrm>
            <a:custGeom>
              <a:avLst/>
              <a:gdLst/>
              <a:ahLst/>
              <a:cxnLst/>
              <a:rect r="r" b="b" t="t" l="l"/>
              <a:pathLst>
                <a:path h="1721480" w="3325931">
                  <a:moveTo>
                    <a:pt x="0" y="0"/>
                  </a:moveTo>
                  <a:lnTo>
                    <a:pt x="3325931" y="0"/>
                  </a:lnTo>
                  <a:lnTo>
                    <a:pt x="3325931" y="1721480"/>
                  </a:lnTo>
                  <a:lnTo>
                    <a:pt x="0" y="1721480"/>
                  </a:lnTo>
                  <a:close/>
                </a:path>
              </a:pathLst>
            </a:custGeom>
            <a:solidFill>
              <a:srgbClr val="151D2D"/>
            </a:solidFill>
            <a:ln w="38100" cap="sq">
              <a:solidFill>
                <a:srgbClr val="8B6F47"/>
              </a:solidFill>
              <a:prstDash val="solid"/>
              <a:miter/>
            </a:ln>
          </p:spPr>
        </p:sp>
        <p:sp>
          <p:nvSpPr>
            <p:cNvPr name="TextBox 7" id="7"/>
            <p:cNvSpPr txBox="true"/>
            <p:nvPr/>
          </p:nvSpPr>
          <p:spPr>
            <a:xfrm>
              <a:off x="0" y="-38100"/>
              <a:ext cx="3325931" cy="175958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340824" y="1728891"/>
            <a:ext cx="13358472" cy="3271723"/>
            <a:chOff x="0" y="0"/>
            <a:chExt cx="3518281" cy="861688"/>
          </a:xfrm>
        </p:grpSpPr>
        <p:sp>
          <p:nvSpPr>
            <p:cNvPr name="Freeform 9" id="9"/>
            <p:cNvSpPr/>
            <p:nvPr/>
          </p:nvSpPr>
          <p:spPr>
            <a:xfrm flipH="false" flipV="false" rot="0">
              <a:off x="0" y="0"/>
              <a:ext cx="3518281" cy="861688"/>
            </a:xfrm>
            <a:custGeom>
              <a:avLst/>
              <a:gdLst/>
              <a:ahLst/>
              <a:cxnLst/>
              <a:rect r="r" b="b" t="t" l="l"/>
              <a:pathLst>
                <a:path h="861688" w="3518281">
                  <a:moveTo>
                    <a:pt x="0" y="0"/>
                  </a:moveTo>
                  <a:lnTo>
                    <a:pt x="3518281" y="0"/>
                  </a:lnTo>
                  <a:lnTo>
                    <a:pt x="3518281" y="861688"/>
                  </a:lnTo>
                  <a:lnTo>
                    <a:pt x="0" y="861688"/>
                  </a:lnTo>
                  <a:close/>
                </a:path>
              </a:pathLst>
            </a:custGeom>
            <a:solidFill>
              <a:srgbClr val="151D2D"/>
            </a:solidFill>
            <a:ln w="57150" cap="sq">
              <a:solidFill>
                <a:srgbClr val="8B6F47"/>
              </a:solidFill>
              <a:prstDash val="solid"/>
              <a:miter/>
            </a:ln>
          </p:spPr>
        </p:sp>
        <p:sp>
          <p:nvSpPr>
            <p:cNvPr name="TextBox 10" id="10"/>
            <p:cNvSpPr txBox="true"/>
            <p:nvPr/>
          </p:nvSpPr>
          <p:spPr>
            <a:xfrm>
              <a:off x="0" y="-38100"/>
              <a:ext cx="3518281" cy="89978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408275" y="2722056"/>
            <a:ext cx="6138518" cy="61385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51D2D"/>
            </a:solidFill>
            <a:ln w="57150" cap="sq">
              <a:solidFill>
                <a:srgbClr val="8B6F47"/>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3138595" y="3364753"/>
            <a:ext cx="2677879" cy="5042925"/>
          </a:xfrm>
          <a:custGeom>
            <a:avLst/>
            <a:gdLst/>
            <a:ahLst/>
            <a:cxnLst/>
            <a:rect r="r" b="b" t="t" l="l"/>
            <a:pathLst>
              <a:path h="5042925" w="2677879">
                <a:moveTo>
                  <a:pt x="0" y="0"/>
                </a:moveTo>
                <a:lnTo>
                  <a:pt x="2677878" y="0"/>
                </a:lnTo>
                <a:lnTo>
                  <a:pt x="2677878" y="5042925"/>
                </a:lnTo>
                <a:lnTo>
                  <a:pt x="0" y="50429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5" id="15"/>
          <p:cNvSpPr/>
          <p:nvPr/>
        </p:nvSpPr>
        <p:spPr>
          <a:xfrm>
            <a:off x="12811932" y="4590142"/>
            <a:ext cx="3340986" cy="0"/>
          </a:xfrm>
          <a:prstGeom prst="line">
            <a:avLst/>
          </a:prstGeom>
          <a:ln cap="flat" w="19050">
            <a:solidFill>
              <a:srgbClr val="E6D0A3"/>
            </a:solidFill>
            <a:prstDash val="solid"/>
            <a:headEnd type="none" len="sm" w="sm"/>
            <a:tailEnd type="none" len="sm" w="sm"/>
          </a:ln>
        </p:spPr>
      </p:sp>
      <p:sp>
        <p:nvSpPr>
          <p:cNvPr name="Freeform 16" id="16"/>
          <p:cNvSpPr/>
          <p:nvPr/>
        </p:nvSpPr>
        <p:spPr>
          <a:xfrm flipH="false" flipV="false" rot="0">
            <a:off x="6882687" y="2167187"/>
            <a:ext cx="7315200" cy="1485616"/>
          </a:xfrm>
          <a:custGeom>
            <a:avLst/>
            <a:gdLst/>
            <a:ahLst/>
            <a:cxnLst/>
            <a:rect r="r" b="b" t="t" l="l"/>
            <a:pathLst>
              <a:path h="1485616" w="7315200">
                <a:moveTo>
                  <a:pt x="0" y="0"/>
                </a:moveTo>
                <a:lnTo>
                  <a:pt x="7315200" y="0"/>
                </a:lnTo>
                <a:lnTo>
                  <a:pt x="7315200" y="1485615"/>
                </a:lnTo>
                <a:lnTo>
                  <a:pt x="0" y="1485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9315611" y="4970505"/>
            <a:ext cx="4608100" cy="2222426"/>
          </a:xfrm>
          <a:prstGeom prst="rect">
            <a:avLst/>
          </a:prstGeom>
        </p:spPr>
        <p:txBody>
          <a:bodyPr anchor="t" rtlCol="false" tIns="0" lIns="0" bIns="0" rIns="0">
            <a:spAutoFit/>
          </a:bodyPr>
          <a:lstStyle/>
          <a:p>
            <a:pPr algn="l">
              <a:lnSpc>
                <a:spcPts val="18199"/>
              </a:lnSpc>
            </a:pPr>
            <a:r>
              <a:rPr lang="en-US" sz="12999">
                <a:solidFill>
                  <a:srgbClr val="E6D8B5"/>
                </a:solidFill>
                <a:latin typeface="EFCO Brookshire"/>
                <a:ea typeface="EFCO Brookshire"/>
                <a:cs typeface="EFCO Brookshire"/>
                <a:sym typeface="EFCO Brookshire"/>
              </a:rPr>
              <a:t>Thank</a:t>
            </a:r>
          </a:p>
        </p:txBody>
      </p:sp>
      <p:sp>
        <p:nvSpPr>
          <p:cNvPr name="TextBox 18" id="18"/>
          <p:cNvSpPr txBox="true"/>
          <p:nvPr/>
        </p:nvSpPr>
        <p:spPr>
          <a:xfrm rot="0">
            <a:off x="9615152" y="6492854"/>
            <a:ext cx="4308560" cy="2222426"/>
          </a:xfrm>
          <a:prstGeom prst="rect">
            <a:avLst/>
          </a:prstGeom>
        </p:spPr>
        <p:txBody>
          <a:bodyPr anchor="t" rtlCol="false" tIns="0" lIns="0" bIns="0" rIns="0">
            <a:spAutoFit/>
          </a:bodyPr>
          <a:lstStyle/>
          <a:p>
            <a:pPr algn="l">
              <a:lnSpc>
                <a:spcPts val="18199"/>
              </a:lnSpc>
            </a:pPr>
            <a:r>
              <a:rPr lang="en-US" sz="12999">
                <a:solidFill>
                  <a:srgbClr val="E6D8B5"/>
                </a:solidFill>
                <a:latin typeface="EFCO Brookshire"/>
                <a:ea typeface="EFCO Brookshire"/>
                <a:cs typeface="EFCO Brookshire"/>
                <a:sym typeface="EFCO Brookshire"/>
              </a:rPr>
              <a:t>You</a:t>
            </a:r>
          </a:p>
        </p:txBody>
      </p:sp>
      <p:sp>
        <p:nvSpPr>
          <p:cNvPr name="TextBox 19" id="19"/>
          <p:cNvSpPr txBox="true"/>
          <p:nvPr/>
        </p:nvSpPr>
        <p:spPr>
          <a:xfrm rot="0">
            <a:off x="12811932" y="3945057"/>
            <a:ext cx="3563098" cy="523875"/>
          </a:xfrm>
          <a:prstGeom prst="rect">
            <a:avLst/>
          </a:prstGeom>
        </p:spPr>
        <p:txBody>
          <a:bodyPr anchor="t" rtlCol="false" tIns="0" lIns="0" bIns="0" rIns="0">
            <a:spAutoFit/>
          </a:bodyPr>
          <a:lstStyle/>
          <a:p>
            <a:pPr algn="l">
              <a:lnSpc>
                <a:spcPts val="4200"/>
              </a:lnSpc>
            </a:pPr>
            <a:r>
              <a:rPr lang="en-US" b="true" sz="3000">
                <a:solidFill>
                  <a:srgbClr val="E6D8B5"/>
                </a:solidFill>
                <a:latin typeface="Ibarra Real Nova Bold"/>
                <a:ea typeface="Ibarra Real Nova Bold"/>
                <a:cs typeface="Ibarra Real Nova Bold"/>
                <a:sym typeface="Ibarra Real Nova Bold"/>
              </a:rPr>
              <a:t>By Group5 Team9</a:t>
            </a:r>
          </a:p>
        </p:txBody>
      </p:sp>
      <p:sp>
        <p:nvSpPr>
          <p:cNvPr name="Freeform 20" id="20"/>
          <p:cNvSpPr/>
          <p:nvPr/>
        </p:nvSpPr>
        <p:spPr>
          <a:xfrm flipH="false" flipV="false" rot="0">
            <a:off x="574483" y="204508"/>
            <a:ext cx="6946960" cy="1261850"/>
          </a:xfrm>
          <a:custGeom>
            <a:avLst/>
            <a:gdLst/>
            <a:ahLst/>
            <a:cxnLst/>
            <a:rect r="r" b="b" t="t" l="l"/>
            <a:pathLst>
              <a:path h="1261850" w="6946960">
                <a:moveTo>
                  <a:pt x="0" y="0"/>
                </a:moveTo>
                <a:lnTo>
                  <a:pt x="6946960" y="0"/>
                </a:lnTo>
                <a:lnTo>
                  <a:pt x="6946960" y="1261850"/>
                </a:lnTo>
                <a:lnTo>
                  <a:pt x="0" y="1261850"/>
                </a:lnTo>
                <a:lnTo>
                  <a:pt x="0" y="0"/>
                </a:lnTo>
                <a:close/>
              </a:path>
            </a:pathLst>
          </a:custGeom>
          <a:blipFill>
            <a:blip r:embed="rId10"/>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DAHNkGIkeoU</dc:identifier>
  <dcterms:modified xsi:type="dcterms:W3CDTF">2011-08-01T06:04:30Z</dcterms:modified>
  <cp:revision>1</cp:revision>
  <dc:title>Team_9_slide</dc:title>
</cp:coreProperties>
</file>